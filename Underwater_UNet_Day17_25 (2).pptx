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is the opening / roadmap slide. It shows the complete pipeline followed from Day 17 to Day 25 of the project: starting from the prepared dataset, going through the frozen train/validation/test split, building and training the U-Net model, validating it, freezing the final model, testing it on held-out data, analysing its failures, and finally investigating a targeted improvement.
2) KEY TERM DEFINITIONS:
Frozen model = a saved model whose learned parameters are not changed after training is complete. Failure analysis = the process of studying the specific images where the model performs poorly. Held-out test set = test images that were never shown to the model during training.
3) WHY THIS STEP WAS PERFORMED:
This overall pipeline was followed so that the project moves in a disciplined, research-style order: prepare data correctly, train and validate honestly, freeze one final model, test it fairly, and only then study its mistakes.
4) IF ASKED "WHY?":
Because a machine learning project needs a fixed, reproducible sequence — if I evaluate before freezing the model, or if I mix test data into training, my results would not be trustworthy.
5) IF ASKED "HOW?":
By using Google Colab with PyTorch, preparing RGB images resized to 256×256 and normalized to [0,1], splitting them into frozen train/validation/test sets, then training the U-Net, validating it, freezing it, testing it, and analysing failures in that exact order.
6) IF ASKED "WHAT IS THE PURPOSE?":
The purpose of this slide is to give a one-glance summary of the whole Day 17–25 journey before going into the details of each stage in the following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slide shows the internal structure of the U-Net model used for enhancing underwater images. An RGB image goes in, passes through an encoder that shrinks it while learning features, a bottleneck that holds the most compressed representation, and a decoder that rebuilds the image back to full size using skip connections, finally producing an enhanced RGB image.
2) KEY TERM DEFINITIONS:
Encoder: extracts image features while reducing spatial size. Bottleneck: the deepest, most compressed feature representation. Decoder: reconstructs the enhanced image from features. Skip connection: directly transfers encoder features to the matching decoder stage. Transposed convolution: a learned way of upsampling (increasing image size). ReLU: an activation function applied after convolution layers. Sigmoid: an activation that squashes output values into the [0,1] range.
3) WHY THIS STEP WAS PERFORMED:
U-Net was chosen because its skip connections let the decoder reuse fine spatial detail from the encoder, which helps reconstruct sharp, detailed enhanced images instead of blurry ones.
4) IF ASKED "WHY?":
Because a plain encoder-decoder without skip connections tends to lose fine detail during downsampling; skip connections recover that detail for better reconstruction.
5) IF ASKED "HOW?":
The image is passed through three downsampling blocks (3→32→64→128 channels), a bottleneck (128→256), then three upsampling blocks that concatenate encoder features via skip connections (256→128→64→32), and a final convolution with Sigmoid produces the 3-channel RGB output.
6) IF ASKED "WHAT IS THE PURPOSE?":
The purpose of this architecture is to take a raw underwater RGB image and output an enhanced RGB image of the same size, while preserving structural detail using skip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slide explains how the U-Net was trained and how the final model was selected. Training data teaches the model, validation data is used to watch how well it is doing without letting it learn from that data, and once training is complete the chosen model is frozen — saved permanently — and only then tested on the held-out test set.
2) KEY TERM DEFINITIONS:
Training set: data used to update model weights. Validation set: data used only to monitor performance during training, not to update weights. Held-out test set: data completely separate from training and validation, used only once, for the final check. Frozen model: a saved model whose parameters are no longer changed.
3) WHY THIS STEP WAS PERFORMED:
This train/validation/test separation and the freezing step were performed to make sure the reported performance is honest and not inflated by the model having 'seen' the test data in any way.
4) IF ASKED "WHY?":
Because if the model is evaluated on data it was trained or tuned on, the results would look better than the model actually performs on new, unseen images — this is called data leakage.
5) IF ASKED "HOW?":
Training data is passed through the model repeatedly to learn parameters, validation data is used after each stage to monitor performance, and once training is finished the resulting model is saved as final_unet_model.pth together with its configuration and the frozen split file Dataset_V1_frozen_split.json.
6) IF ASKED "WHAT IS THE PURPOSE?":
The purpose of this step is to arrive at one single, unchanging final model, selected using validation performance, so that later testing and failure analysis are done fairly on data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slide explains how the frozen U-Net was tested on the held-out test set and how an error value was computed for every single test image so the most difficult (worst) cases could be found.
2) KEY TERM DEFINITIONS:
L1 error: the average of the absolute (positive) pixel-by-pixel difference between the predicted image and the target image. torch.no_grad(): a PyTorch setting that turns off gradient tracking during testing since we are not training. model.eval(): a PyTorch setting that switches the model into evaluation mode. Failure case: a test image where the model's prediction has a high error compared to the target.
3) WHY THIS STEP WAS PERFORMED:
This per-image error calculation was performed so that instead of only knowing one overall number, we can identify exactly which images the model struggles with, which is the first step of failure analysis.
4) IF ASKED "WHY?":
Because an average error over the whole test set can hide the fact that a few specific images are enhanced very poorly; per-image L1 error reveals those cases.
5) IF ASKED "HOW?":
Each held-out test image is passed through the frozen U-Net inside torch.no_grad() with model.eval() active, the prediction is compared to its target using L1 = mean(|Prediction − Target|), an error value is stored per image, and the top 10 highest-error images are shortlisted, with the top 5 visualized as Input / Prediction / Target.
6) IF ASKED "WHAT IS THE PURPOSE?":
The purpose of this step is to move from just 'testing the model' to 'finding out exactly where it fails,' which sets up the deeper failure analysis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slide digs deeper into WHY the model fails on certain images by studying the failures from two angles: color (per-channel error) and structure (gradient / edge error), instead of only looking at a single overall L1 number.
2) KEY TERM DEFINITIONS:
RGB channel error: the error computed separately for the Red, Green and Blue channels of an image. Mean Absolute Error: the average of absolute differences, used here per channel. Gradient: the change in pixel intensity between neighboring pixels, used to describe edges. Horizontal gradient: pixel difference computed along the row (left-right) direction. Vertical gradient: pixel difference computed along the column (up-down) direction. Structural information: the shapes, boundaries and layout in an image. Edge information: the sharp intensity changes that outline objects in an image.
3) WHY THIS STEP WAS PERFORMED:
This two-part analysis was performed because a single L1 error number does not tell us whether the model is struggling with color reproduction, with preserving sharp edges/structure, or both — splitting it into channel error and gradient error gives more actionable insight.
4) IF ASKED "WHY?":
Because underwater images often have color distortion (e.g. loss of red wavelengths) and can also lose fine structural detail during enhancement, so both color and structure need to be checked separately.
5) IF ASKED "HOW?":
For RGB analysis, the error is computed separately for R, G and B channels for every test image and then averaged across the test set and plotted. For gradient analysis, horizontal and vertical pixel differences are computed for both the prediction and the target, and the difference between these gradients gives the Mean Gradient Error.
6) IF ASKED "WHAT IS THE PURPOSE?":
The purpose of this slide is to explain not just THAT the model has errors, but to start understanding WHERE those errors come from — color channels or structural/edge information — which directly motivates the targeted improvement investigated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slide describes an experimental idea explored after failure analysis: since some errors may be structural (not just pixel-level), a combined loss function is investigated that adds a gradient-based term to the usual L1 loss, purely as an investigation — not as a replacement for the frozen final model.
2) KEY TERM DEFINITIONS:
L1 loss: the pixel-level absolute difference loss (same idea as L1 error, used here as a training loss). Gradient loss: a loss term based on comparing horizontal and vertical gradients of prediction and target, so it penalizes structural/edge differences. Combined loss: L1 loss plus a small weighted amount (0.1×) of gradient loss added together.
3) WHY THIS STEP WAS PERFORMED:
This experiment was performed because the failure analysis on the previous slide raised the question of whether structural/edge differences contribute to errors; adding a gradient-aware term is one direct way to investigate that question.
4) IF ASKED "WHY?":
Because relying only on pixel-level L1 error may not capture whether the model preserves edges and structure, so a gradient term is added to see if structural awareness helps address the failure patterns observed.
5) IF ASKED "HOW?":
The combined loss is formed by taking the standard L1 loss between prediction and target and adding 0.1 times a gradient loss (based on horizontal and vertical gradient comparison), giving Combined Loss = L1 Loss + 0.1 × Gradient Loss.
6) IF ASKED "WHAT IS THE PURPOSE?":
The purpose of this slide is to show that Day 25 is an experimental, analysis-driven investigation into a structure-aware loss concept — it explains a possible direction for improvement without changing or retraining the Day 22 frozen final model, and especially without using the test set for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WHAT THIS SLIDE MEANS:
This is the closing slide. It summarizes the final model status, what testing and failure analysis were done, what the targeted improvement investigation explored, and lists the concrete output files produced on Day 25, ending with the overall project flow and final conclusion.
2) KEY TERM DEFINITIONS:
Frozen U-Net: the unchanged final trained model. Held-out test set: the test images never used in training. Failure analysis: studying the worst-performing test images using L1 error, RGB channel error and gradient error. Targeted improvement investigation: the experimental gradient-aware combined loss idea explored as analysis, not a retrained replacement model.
3) WHY THIS STEP WAS PERFORMED:
This summary was prepared to clearly separate 'what is final and unchanged' (the Day 22 frozen model) from 'what was investigated as analysis' (the Day 25 gradient-aware loss idea), which is an important distinction for evaluating the project fairly.
4) IF ASKED "WHY?":
Because a project review needs a clear, honest picture of what was actually completed and finalized versus what remains an open, experimental direction for future work.
5) IF ASKED "HOW?":
The frozen U-Net was evaluated on the held-out test set, per-image L1 errors were computed, the worst cases were analysed using RGB channel error and gradient error, and a combined L1 + gradient loss idea was investigated as a targeted improvement — with all findings saved into the four Day 25 output files.
6) IF ASKED "WHAT IS THE PURPOSE?":
The purpose of this final slide is to state the project status clearly: the Day 22 frozen model is the official final model, and Day 25 provides analysis and a documented direction for future improvement, without altering that frozen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PROJECT OVERVIEW</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000" b="1" dirty="0">
                <a:solidFill>
                  <a:srgbClr val="21295C"/>
                </a:solidFill>
                <a:latin typeface="Cambria" pitchFamily="34" charset="0"/>
                <a:ea typeface="Cambria" pitchFamily="34" charset="-122"/>
                <a:cs typeface="Cambria" pitchFamily="34" charset="-120"/>
              </a:rPr>
              <a:t>Day 17–25: Model Development, Evaluation &amp; Failure Analysis</a:t>
            </a:r>
            <a:endParaRPr lang="en-US" sz="2000" dirty="0"/>
          </a:p>
        </p:txBody>
      </p:sp>
      <p:sp>
        <p:nvSpPr>
          <p:cNvPr id="4" name="Shape 2"/>
          <p:cNvSpPr/>
          <p:nvPr/>
        </p:nvSpPr>
        <p:spPr>
          <a:xfrm>
            <a:off x="365760" y="1024128"/>
            <a:ext cx="2423160" cy="566928"/>
          </a:xfrm>
          <a:prstGeom prst="roundRect">
            <a:avLst>
              <a:gd name="adj" fmla="val 9677"/>
            </a:avLst>
          </a:prstGeom>
          <a:solidFill>
            <a:srgbClr val="F2F8FA"/>
          </a:solidFill>
          <a:ln w="12700">
            <a:solidFill>
              <a:srgbClr val="B9D3DC"/>
            </a:solidFill>
            <a:prstDash val="solid"/>
          </a:ln>
        </p:spPr>
      </p:sp>
      <p:sp>
        <p:nvSpPr>
          <p:cNvPr id="5" name="Text 3"/>
          <p:cNvSpPr txBox="1"/>
          <p:nvPr/>
        </p:nvSpPr>
        <p:spPr>
          <a:xfrm>
            <a:off x="402336" y="102412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Prepared</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Dataset</a:t>
            </a:r>
            <a:endParaRPr lang="en-US" sz="1000" dirty="0"/>
          </a:p>
        </p:txBody>
      </p:sp>
      <p:sp>
        <p:nvSpPr>
          <p:cNvPr id="6" name="Shape 4"/>
          <p:cNvSpPr/>
          <p:nvPr/>
        </p:nvSpPr>
        <p:spPr>
          <a:xfrm>
            <a:off x="2926080" y="1024128"/>
            <a:ext cx="2423160" cy="566928"/>
          </a:xfrm>
          <a:prstGeom prst="roundRect">
            <a:avLst>
              <a:gd name="adj" fmla="val 9677"/>
            </a:avLst>
          </a:prstGeom>
          <a:solidFill>
            <a:srgbClr val="F2F8FA"/>
          </a:solidFill>
          <a:ln w="12700">
            <a:solidFill>
              <a:srgbClr val="B9D3DC"/>
            </a:solidFill>
            <a:prstDash val="solid"/>
          </a:ln>
        </p:spPr>
      </p:sp>
      <p:sp>
        <p:nvSpPr>
          <p:cNvPr id="7" name="Text 5"/>
          <p:cNvSpPr txBox="1"/>
          <p:nvPr/>
        </p:nvSpPr>
        <p:spPr>
          <a:xfrm>
            <a:off x="2962656" y="102412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Frozen Train /</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Validation / Test</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Split</a:t>
            </a:r>
            <a:endParaRPr lang="en-US" sz="1000" dirty="0"/>
          </a:p>
        </p:txBody>
      </p:sp>
      <p:sp>
        <p:nvSpPr>
          <p:cNvPr id="8" name="Shape 6"/>
          <p:cNvSpPr/>
          <p:nvPr/>
        </p:nvSpPr>
        <p:spPr>
          <a:xfrm>
            <a:off x="5486400" y="1024128"/>
            <a:ext cx="2423160" cy="566928"/>
          </a:xfrm>
          <a:prstGeom prst="roundRect">
            <a:avLst>
              <a:gd name="adj" fmla="val 9677"/>
            </a:avLst>
          </a:prstGeom>
          <a:solidFill>
            <a:srgbClr val="F2F8FA"/>
          </a:solidFill>
          <a:ln w="12700">
            <a:solidFill>
              <a:srgbClr val="B9D3DC"/>
            </a:solidFill>
            <a:prstDash val="solid"/>
          </a:ln>
        </p:spPr>
      </p:sp>
      <p:sp>
        <p:nvSpPr>
          <p:cNvPr id="9" name="Text 7"/>
          <p:cNvSpPr txBox="1"/>
          <p:nvPr/>
        </p:nvSpPr>
        <p:spPr>
          <a:xfrm>
            <a:off x="5522976" y="102412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U-Net</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Model</a:t>
            </a:r>
            <a:endParaRPr lang="en-US" sz="1000" dirty="0"/>
          </a:p>
        </p:txBody>
      </p:sp>
      <p:sp>
        <p:nvSpPr>
          <p:cNvPr id="10" name="Shape 8"/>
          <p:cNvSpPr/>
          <p:nvPr/>
        </p:nvSpPr>
        <p:spPr>
          <a:xfrm>
            <a:off x="5486400" y="1755648"/>
            <a:ext cx="2423160" cy="566928"/>
          </a:xfrm>
          <a:prstGeom prst="roundRect">
            <a:avLst>
              <a:gd name="adj" fmla="val 9677"/>
            </a:avLst>
          </a:prstGeom>
          <a:solidFill>
            <a:srgbClr val="F2F8FA"/>
          </a:solidFill>
          <a:ln w="12700">
            <a:solidFill>
              <a:srgbClr val="B9D3DC"/>
            </a:solidFill>
            <a:prstDash val="solid"/>
          </a:ln>
        </p:spPr>
      </p:sp>
      <p:sp>
        <p:nvSpPr>
          <p:cNvPr id="11" name="Text 9"/>
          <p:cNvSpPr txBox="1"/>
          <p:nvPr/>
        </p:nvSpPr>
        <p:spPr>
          <a:xfrm>
            <a:off x="5522976" y="175564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Training</a:t>
            </a:r>
            <a:endParaRPr lang="en-US" sz="1000" dirty="0"/>
          </a:p>
        </p:txBody>
      </p:sp>
      <p:sp>
        <p:nvSpPr>
          <p:cNvPr id="12" name="Shape 10"/>
          <p:cNvSpPr/>
          <p:nvPr/>
        </p:nvSpPr>
        <p:spPr>
          <a:xfrm>
            <a:off x="2926080" y="1755648"/>
            <a:ext cx="2423160" cy="566928"/>
          </a:xfrm>
          <a:prstGeom prst="roundRect">
            <a:avLst>
              <a:gd name="adj" fmla="val 9677"/>
            </a:avLst>
          </a:prstGeom>
          <a:solidFill>
            <a:srgbClr val="F2F8FA"/>
          </a:solidFill>
          <a:ln w="12700">
            <a:solidFill>
              <a:srgbClr val="B9D3DC"/>
            </a:solidFill>
            <a:prstDash val="solid"/>
          </a:ln>
        </p:spPr>
      </p:sp>
      <p:sp>
        <p:nvSpPr>
          <p:cNvPr id="13" name="Text 11"/>
          <p:cNvSpPr txBox="1"/>
          <p:nvPr/>
        </p:nvSpPr>
        <p:spPr>
          <a:xfrm>
            <a:off x="2962656" y="175564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Validation</a:t>
            </a:r>
            <a:endParaRPr lang="en-US" sz="1000" dirty="0"/>
          </a:p>
        </p:txBody>
      </p:sp>
      <p:sp>
        <p:nvSpPr>
          <p:cNvPr id="14" name="Shape 12"/>
          <p:cNvSpPr/>
          <p:nvPr/>
        </p:nvSpPr>
        <p:spPr>
          <a:xfrm>
            <a:off x="365760" y="1755648"/>
            <a:ext cx="2423160" cy="566928"/>
          </a:xfrm>
          <a:prstGeom prst="roundRect">
            <a:avLst>
              <a:gd name="adj" fmla="val 9677"/>
            </a:avLst>
          </a:prstGeom>
          <a:solidFill>
            <a:srgbClr val="DCEBF1"/>
          </a:solidFill>
          <a:ln w="19050">
            <a:solidFill>
              <a:srgbClr val="065A82"/>
            </a:solidFill>
            <a:prstDash val="solid"/>
          </a:ln>
        </p:spPr>
      </p:sp>
      <p:sp>
        <p:nvSpPr>
          <p:cNvPr id="15" name="Text 13"/>
          <p:cNvSpPr txBox="1"/>
          <p:nvPr/>
        </p:nvSpPr>
        <p:spPr>
          <a:xfrm>
            <a:off x="402336" y="175564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Final Frozen</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Model</a:t>
            </a:r>
            <a:endParaRPr lang="en-US" sz="1000" dirty="0"/>
          </a:p>
        </p:txBody>
      </p:sp>
      <p:sp>
        <p:nvSpPr>
          <p:cNvPr id="16" name="Shape 14"/>
          <p:cNvSpPr/>
          <p:nvPr/>
        </p:nvSpPr>
        <p:spPr>
          <a:xfrm>
            <a:off x="365760" y="2487168"/>
            <a:ext cx="2423160" cy="566928"/>
          </a:xfrm>
          <a:prstGeom prst="roundRect">
            <a:avLst>
              <a:gd name="adj" fmla="val 9677"/>
            </a:avLst>
          </a:prstGeom>
          <a:solidFill>
            <a:srgbClr val="F2F8FA"/>
          </a:solidFill>
          <a:ln w="12700">
            <a:solidFill>
              <a:srgbClr val="B9D3DC"/>
            </a:solidFill>
            <a:prstDash val="solid"/>
          </a:ln>
        </p:spPr>
      </p:sp>
      <p:sp>
        <p:nvSpPr>
          <p:cNvPr id="17" name="Text 15"/>
          <p:cNvSpPr txBox="1"/>
          <p:nvPr/>
        </p:nvSpPr>
        <p:spPr>
          <a:xfrm>
            <a:off x="402336" y="248716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Held-out Test</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Evaluation</a:t>
            </a:r>
            <a:endParaRPr lang="en-US" sz="1000" dirty="0"/>
          </a:p>
        </p:txBody>
      </p:sp>
      <p:sp>
        <p:nvSpPr>
          <p:cNvPr id="18" name="Shape 16"/>
          <p:cNvSpPr/>
          <p:nvPr/>
        </p:nvSpPr>
        <p:spPr>
          <a:xfrm>
            <a:off x="2926080" y="2487168"/>
            <a:ext cx="2423160" cy="566928"/>
          </a:xfrm>
          <a:prstGeom prst="roundRect">
            <a:avLst>
              <a:gd name="adj" fmla="val 9677"/>
            </a:avLst>
          </a:prstGeom>
          <a:solidFill>
            <a:srgbClr val="F2F8FA"/>
          </a:solidFill>
          <a:ln w="12700">
            <a:solidFill>
              <a:srgbClr val="B9D3DC"/>
            </a:solidFill>
            <a:prstDash val="solid"/>
          </a:ln>
        </p:spPr>
      </p:sp>
      <p:sp>
        <p:nvSpPr>
          <p:cNvPr id="19" name="Text 17"/>
          <p:cNvSpPr txBox="1"/>
          <p:nvPr/>
        </p:nvSpPr>
        <p:spPr>
          <a:xfrm>
            <a:off x="2962656" y="248716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Failure</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Analysis</a:t>
            </a:r>
            <a:endParaRPr lang="en-US" sz="1000" dirty="0"/>
          </a:p>
        </p:txBody>
      </p:sp>
      <p:sp>
        <p:nvSpPr>
          <p:cNvPr id="20" name="Shape 18"/>
          <p:cNvSpPr/>
          <p:nvPr/>
        </p:nvSpPr>
        <p:spPr>
          <a:xfrm>
            <a:off x="5486400" y="2487168"/>
            <a:ext cx="2423160" cy="566928"/>
          </a:xfrm>
          <a:prstGeom prst="roundRect">
            <a:avLst>
              <a:gd name="adj" fmla="val 9677"/>
            </a:avLst>
          </a:prstGeom>
          <a:solidFill>
            <a:srgbClr val="F2F8FA"/>
          </a:solidFill>
          <a:ln w="12700">
            <a:solidFill>
              <a:srgbClr val="B9D3DC"/>
            </a:solidFill>
            <a:prstDash val="solid"/>
          </a:ln>
        </p:spPr>
      </p:sp>
      <p:sp>
        <p:nvSpPr>
          <p:cNvPr id="21" name="Text 19"/>
          <p:cNvSpPr txBox="1"/>
          <p:nvPr/>
        </p:nvSpPr>
        <p:spPr>
          <a:xfrm>
            <a:off x="5522976" y="2487168"/>
            <a:ext cx="2350008"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Targeted</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Improvement</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Investigation</a:t>
            </a:r>
            <a:endParaRPr lang="en-US" sz="1000" dirty="0"/>
          </a:p>
        </p:txBody>
      </p:sp>
      <p:sp>
        <p:nvSpPr>
          <p:cNvPr id="22" name="Shape 20"/>
          <p:cNvSpPr/>
          <p:nvPr/>
        </p:nvSpPr>
        <p:spPr>
          <a:xfrm>
            <a:off x="2807208" y="1307592"/>
            <a:ext cx="100584" cy="0"/>
          </a:xfrm>
          <a:prstGeom prst="line">
            <a:avLst/>
          </a:prstGeom>
          <a:noFill/>
          <a:ln w="22225">
            <a:solidFill>
              <a:srgbClr val="1C7293"/>
            </a:solidFill>
            <a:prstDash val="solid"/>
            <a:tailEnd type="triangle"/>
          </a:ln>
        </p:spPr>
      </p:sp>
      <p:sp>
        <p:nvSpPr>
          <p:cNvPr id="23" name="Shape 21"/>
          <p:cNvSpPr/>
          <p:nvPr/>
        </p:nvSpPr>
        <p:spPr>
          <a:xfrm>
            <a:off x="5367528" y="1307592"/>
            <a:ext cx="100584" cy="0"/>
          </a:xfrm>
          <a:prstGeom prst="line">
            <a:avLst/>
          </a:prstGeom>
          <a:noFill/>
          <a:ln w="22225">
            <a:solidFill>
              <a:srgbClr val="1C7293"/>
            </a:solidFill>
            <a:prstDash val="solid"/>
            <a:tailEnd type="triangle"/>
          </a:ln>
        </p:spPr>
      </p:sp>
      <p:sp>
        <p:nvSpPr>
          <p:cNvPr id="24" name="Shape 22"/>
          <p:cNvSpPr/>
          <p:nvPr/>
        </p:nvSpPr>
        <p:spPr>
          <a:xfrm>
            <a:off x="6697980" y="1609344"/>
            <a:ext cx="0" cy="128016"/>
          </a:xfrm>
          <a:prstGeom prst="line">
            <a:avLst/>
          </a:prstGeom>
          <a:noFill/>
          <a:ln w="22225">
            <a:solidFill>
              <a:srgbClr val="1C7293"/>
            </a:solidFill>
            <a:prstDash val="solid"/>
            <a:tailEnd type="triangle"/>
          </a:ln>
        </p:spPr>
      </p:sp>
      <p:sp>
        <p:nvSpPr>
          <p:cNvPr id="25" name="Shape 23"/>
          <p:cNvSpPr/>
          <p:nvPr/>
        </p:nvSpPr>
        <p:spPr>
          <a:xfrm>
            <a:off x="5468112" y="2039112"/>
            <a:ext cx="-100584" cy="0"/>
          </a:xfrm>
          <a:prstGeom prst="line">
            <a:avLst/>
          </a:prstGeom>
          <a:noFill/>
          <a:ln w="22225">
            <a:solidFill>
              <a:srgbClr val="1C7293"/>
            </a:solidFill>
            <a:prstDash val="solid"/>
            <a:tailEnd type="triangle"/>
          </a:ln>
        </p:spPr>
      </p:sp>
      <p:sp>
        <p:nvSpPr>
          <p:cNvPr id="26" name="Shape 24"/>
          <p:cNvSpPr/>
          <p:nvPr/>
        </p:nvSpPr>
        <p:spPr>
          <a:xfrm>
            <a:off x="2907792" y="2039112"/>
            <a:ext cx="-100584" cy="0"/>
          </a:xfrm>
          <a:prstGeom prst="line">
            <a:avLst/>
          </a:prstGeom>
          <a:noFill/>
          <a:ln w="22225">
            <a:solidFill>
              <a:srgbClr val="1C7293"/>
            </a:solidFill>
            <a:prstDash val="solid"/>
            <a:tailEnd type="triangle"/>
          </a:ln>
        </p:spPr>
      </p:sp>
      <p:sp>
        <p:nvSpPr>
          <p:cNvPr id="27" name="Shape 25"/>
          <p:cNvSpPr/>
          <p:nvPr/>
        </p:nvSpPr>
        <p:spPr>
          <a:xfrm>
            <a:off x="1577340" y="2340864"/>
            <a:ext cx="0" cy="128016"/>
          </a:xfrm>
          <a:prstGeom prst="line">
            <a:avLst/>
          </a:prstGeom>
          <a:noFill/>
          <a:ln w="22225">
            <a:solidFill>
              <a:srgbClr val="1C7293"/>
            </a:solidFill>
            <a:prstDash val="solid"/>
            <a:tailEnd type="triangle"/>
          </a:ln>
        </p:spPr>
      </p:sp>
      <p:sp>
        <p:nvSpPr>
          <p:cNvPr id="28" name="Shape 26"/>
          <p:cNvSpPr/>
          <p:nvPr/>
        </p:nvSpPr>
        <p:spPr>
          <a:xfrm>
            <a:off x="2807208" y="2770632"/>
            <a:ext cx="100584" cy="0"/>
          </a:xfrm>
          <a:prstGeom prst="line">
            <a:avLst/>
          </a:prstGeom>
          <a:noFill/>
          <a:ln w="22225">
            <a:solidFill>
              <a:srgbClr val="1C7293"/>
            </a:solidFill>
            <a:prstDash val="solid"/>
            <a:tailEnd type="triangle"/>
          </a:ln>
        </p:spPr>
      </p:sp>
      <p:sp>
        <p:nvSpPr>
          <p:cNvPr id="29" name="Shape 27"/>
          <p:cNvSpPr/>
          <p:nvPr/>
        </p:nvSpPr>
        <p:spPr>
          <a:xfrm>
            <a:off x="5367528" y="2770632"/>
            <a:ext cx="100584" cy="0"/>
          </a:xfrm>
          <a:prstGeom prst="line">
            <a:avLst/>
          </a:prstGeom>
          <a:noFill/>
          <a:ln w="22225">
            <a:solidFill>
              <a:srgbClr val="1C7293"/>
            </a:solidFill>
            <a:prstDash val="solid"/>
            <a:tailEnd type="triangle"/>
          </a:ln>
        </p:spPr>
      </p:sp>
      <p:sp>
        <p:nvSpPr>
          <p:cNvPr id="30" name="Text 28"/>
          <p:cNvSpPr txBox="1"/>
          <p:nvPr/>
        </p:nvSpPr>
        <p:spPr>
          <a:xfrm>
            <a:off x="365760" y="3255264"/>
            <a:ext cx="8412480" cy="292608"/>
          </a:xfrm>
          <a:prstGeom prst="rect">
            <a:avLst/>
          </a:prstGeom>
          <a:noFill/>
          <a:ln/>
        </p:spPr>
        <p:txBody>
          <a:bodyPr wrap="square" lIns="0" tIns="0" rIns="0" bIns="0" rtlCol="0" anchor="ctr"/>
          <a:lstStyle/>
          <a:p>
            <a:pPr algn="l" indent="0" marL="0">
              <a:buNone/>
            </a:pPr>
            <a:r>
              <a:rPr lang="en-US" sz="1100" i="1" dirty="0">
                <a:solidFill>
                  <a:srgbClr val="5A6B72"/>
                </a:solidFill>
                <a:latin typeface="Calibri" pitchFamily="34" charset="0"/>
                <a:ea typeface="Calibri" pitchFamily="34" charset="-122"/>
                <a:cs typeface="Calibri" pitchFamily="34" charset="-120"/>
              </a:rPr>
              <a:t>Day 17–25 focused on moving from model preparation and training to final evaluation and understanding failure cases.</a:t>
            </a:r>
            <a:endParaRPr lang="en-US" sz="1100" dirty="0"/>
          </a:p>
        </p:txBody>
      </p:sp>
      <p:sp>
        <p:nvSpPr>
          <p:cNvPr id="31" name="Shape 29"/>
          <p:cNvSpPr/>
          <p:nvPr/>
        </p:nvSpPr>
        <p:spPr>
          <a:xfrm>
            <a:off x="365760" y="3602736"/>
            <a:ext cx="2724912" cy="274320"/>
          </a:xfrm>
          <a:prstGeom prst="roundRect">
            <a:avLst>
              <a:gd name="adj" fmla="val 50000"/>
            </a:avLst>
          </a:prstGeom>
          <a:solidFill>
            <a:srgbClr val="E7F1F4"/>
          </a:solidFill>
          <a:ln w="9525">
            <a:solidFill>
              <a:srgbClr val="1C7293"/>
            </a:solidFill>
            <a:prstDash val="solid"/>
          </a:ln>
        </p:spPr>
      </p:sp>
      <p:sp>
        <p:nvSpPr>
          <p:cNvPr id="32" name="Text 30"/>
          <p:cNvSpPr txBox="1"/>
          <p:nvPr/>
        </p:nvSpPr>
        <p:spPr>
          <a:xfrm>
            <a:off x="393192" y="3602736"/>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Google Colab</a:t>
            </a:r>
            <a:endParaRPr lang="en-US" sz="950" dirty="0"/>
          </a:p>
        </p:txBody>
      </p:sp>
      <p:sp>
        <p:nvSpPr>
          <p:cNvPr id="33" name="Shape 31"/>
          <p:cNvSpPr/>
          <p:nvPr/>
        </p:nvSpPr>
        <p:spPr>
          <a:xfrm>
            <a:off x="3209544" y="3602736"/>
            <a:ext cx="2724912" cy="274320"/>
          </a:xfrm>
          <a:prstGeom prst="roundRect">
            <a:avLst>
              <a:gd name="adj" fmla="val 50000"/>
            </a:avLst>
          </a:prstGeom>
          <a:solidFill>
            <a:srgbClr val="E7F1F4"/>
          </a:solidFill>
          <a:ln w="9525">
            <a:solidFill>
              <a:srgbClr val="1C7293"/>
            </a:solidFill>
            <a:prstDash val="solid"/>
          </a:ln>
        </p:spPr>
      </p:sp>
      <p:sp>
        <p:nvSpPr>
          <p:cNvPr id="34" name="Text 32"/>
          <p:cNvSpPr txBox="1"/>
          <p:nvPr/>
        </p:nvSpPr>
        <p:spPr>
          <a:xfrm>
            <a:off x="3236976" y="3602736"/>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PyTorch</a:t>
            </a:r>
            <a:endParaRPr lang="en-US" sz="950" dirty="0"/>
          </a:p>
        </p:txBody>
      </p:sp>
      <p:sp>
        <p:nvSpPr>
          <p:cNvPr id="35" name="Shape 33"/>
          <p:cNvSpPr/>
          <p:nvPr/>
        </p:nvSpPr>
        <p:spPr>
          <a:xfrm>
            <a:off x="6053328" y="3602736"/>
            <a:ext cx="2724912" cy="274320"/>
          </a:xfrm>
          <a:prstGeom prst="roundRect">
            <a:avLst>
              <a:gd name="adj" fmla="val 50000"/>
            </a:avLst>
          </a:prstGeom>
          <a:solidFill>
            <a:srgbClr val="E7F1F4"/>
          </a:solidFill>
          <a:ln w="9525">
            <a:solidFill>
              <a:srgbClr val="1C7293"/>
            </a:solidFill>
            <a:prstDash val="solid"/>
          </a:ln>
        </p:spPr>
      </p:sp>
      <p:sp>
        <p:nvSpPr>
          <p:cNvPr id="36" name="Text 34"/>
          <p:cNvSpPr txBox="1"/>
          <p:nvPr/>
        </p:nvSpPr>
        <p:spPr>
          <a:xfrm>
            <a:off x="6080760" y="3602736"/>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U-Net</a:t>
            </a:r>
            <a:endParaRPr lang="en-US" sz="950" dirty="0"/>
          </a:p>
        </p:txBody>
      </p:sp>
      <p:sp>
        <p:nvSpPr>
          <p:cNvPr id="37" name="Shape 35"/>
          <p:cNvSpPr/>
          <p:nvPr/>
        </p:nvSpPr>
        <p:spPr>
          <a:xfrm>
            <a:off x="365760" y="3959352"/>
            <a:ext cx="2724912" cy="274320"/>
          </a:xfrm>
          <a:prstGeom prst="roundRect">
            <a:avLst>
              <a:gd name="adj" fmla="val 50000"/>
            </a:avLst>
          </a:prstGeom>
          <a:solidFill>
            <a:srgbClr val="E7F1F4"/>
          </a:solidFill>
          <a:ln w="9525">
            <a:solidFill>
              <a:srgbClr val="1C7293"/>
            </a:solidFill>
            <a:prstDash val="solid"/>
          </a:ln>
        </p:spPr>
      </p:sp>
      <p:sp>
        <p:nvSpPr>
          <p:cNvPr id="38" name="Text 36"/>
          <p:cNvSpPr txBox="1"/>
          <p:nvPr/>
        </p:nvSpPr>
        <p:spPr>
          <a:xfrm>
            <a:off x="393192" y="3959352"/>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RGB Images</a:t>
            </a:r>
            <a:endParaRPr lang="en-US" sz="950" dirty="0"/>
          </a:p>
        </p:txBody>
      </p:sp>
      <p:sp>
        <p:nvSpPr>
          <p:cNvPr id="39" name="Shape 37"/>
          <p:cNvSpPr/>
          <p:nvPr/>
        </p:nvSpPr>
        <p:spPr>
          <a:xfrm>
            <a:off x="3209544" y="3959352"/>
            <a:ext cx="2724912" cy="274320"/>
          </a:xfrm>
          <a:prstGeom prst="roundRect">
            <a:avLst>
              <a:gd name="adj" fmla="val 50000"/>
            </a:avLst>
          </a:prstGeom>
          <a:solidFill>
            <a:srgbClr val="E7F1F4"/>
          </a:solidFill>
          <a:ln w="9525">
            <a:solidFill>
              <a:srgbClr val="1C7293"/>
            </a:solidFill>
            <a:prstDash val="solid"/>
          </a:ln>
        </p:spPr>
      </p:sp>
      <p:sp>
        <p:nvSpPr>
          <p:cNvPr id="40" name="Text 38"/>
          <p:cNvSpPr txBox="1"/>
          <p:nvPr/>
        </p:nvSpPr>
        <p:spPr>
          <a:xfrm>
            <a:off x="3236976" y="3959352"/>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256 × 256</a:t>
            </a:r>
            <a:endParaRPr lang="en-US" sz="950" dirty="0"/>
          </a:p>
        </p:txBody>
      </p:sp>
      <p:sp>
        <p:nvSpPr>
          <p:cNvPr id="41" name="Shape 39"/>
          <p:cNvSpPr/>
          <p:nvPr/>
        </p:nvSpPr>
        <p:spPr>
          <a:xfrm>
            <a:off x="6053328" y="3959352"/>
            <a:ext cx="2724912" cy="274320"/>
          </a:xfrm>
          <a:prstGeom prst="roundRect">
            <a:avLst>
              <a:gd name="adj" fmla="val 50000"/>
            </a:avLst>
          </a:prstGeom>
          <a:solidFill>
            <a:srgbClr val="E7F1F4"/>
          </a:solidFill>
          <a:ln w="9525">
            <a:solidFill>
              <a:srgbClr val="1C7293"/>
            </a:solidFill>
            <a:prstDash val="solid"/>
          </a:ln>
        </p:spPr>
      </p:sp>
      <p:sp>
        <p:nvSpPr>
          <p:cNvPr id="42" name="Text 40"/>
          <p:cNvSpPr txBox="1"/>
          <p:nvPr/>
        </p:nvSpPr>
        <p:spPr>
          <a:xfrm>
            <a:off x="6080760" y="3959352"/>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Normalization [0,1]</a:t>
            </a:r>
            <a:endParaRPr lang="en-US" sz="950" dirty="0"/>
          </a:p>
        </p:txBody>
      </p:sp>
      <p:sp>
        <p:nvSpPr>
          <p:cNvPr id="43" name="Shape 41"/>
          <p:cNvSpPr/>
          <p:nvPr/>
        </p:nvSpPr>
        <p:spPr>
          <a:xfrm>
            <a:off x="365760" y="4315968"/>
            <a:ext cx="2724912" cy="274320"/>
          </a:xfrm>
          <a:prstGeom prst="roundRect">
            <a:avLst>
              <a:gd name="adj" fmla="val 50000"/>
            </a:avLst>
          </a:prstGeom>
          <a:solidFill>
            <a:srgbClr val="E7F1F4"/>
          </a:solidFill>
          <a:ln w="9525">
            <a:solidFill>
              <a:srgbClr val="1C7293"/>
            </a:solidFill>
            <a:prstDash val="solid"/>
          </a:ln>
        </p:spPr>
      </p:sp>
      <p:sp>
        <p:nvSpPr>
          <p:cNvPr id="44" name="Text 42"/>
          <p:cNvSpPr txBox="1"/>
          <p:nvPr/>
        </p:nvSpPr>
        <p:spPr>
          <a:xfrm>
            <a:off x="393192" y="4315968"/>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Train / Val / Test</a:t>
            </a:r>
            <a:endParaRPr lang="en-US" sz="950" dirty="0"/>
          </a:p>
        </p:txBody>
      </p:sp>
      <p:sp>
        <p:nvSpPr>
          <p:cNvPr id="45" name="Shape 43"/>
          <p:cNvSpPr/>
          <p:nvPr/>
        </p:nvSpPr>
        <p:spPr>
          <a:xfrm>
            <a:off x="3209544" y="4315968"/>
            <a:ext cx="2724912" cy="274320"/>
          </a:xfrm>
          <a:prstGeom prst="roundRect">
            <a:avLst>
              <a:gd name="adj" fmla="val 50000"/>
            </a:avLst>
          </a:prstGeom>
          <a:solidFill>
            <a:srgbClr val="E7F1F4"/>
          </a:solidFill>
          <a:ln w="9525">
            <a:solidFill>
              <a:srgbClr val="1C7293"/>
            </a:solidFill>
            <a:prstDash val="solid"/>
          </a:ln>
        </p:spPr>
      </p:sp>
      <p:sp>
        <p:nvSpPr>
          <p:cNvPr id="46" name="Text 44"/>
          <p:cNvSpPr txBox="1"/>
          <p:nvPr/>
        </p:nvSpPr>
        <p:spPr>
          <a:xfrm>
            <a:off x="3236976" y="4315968"/>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Frozen Model</a:t>
            </a:r>
            <a:endParaRPr lang="en-US" sz="950" dirty="0"/>
          </a:p>
        </p:txBody>
      </p:sp>
      <p:sp>
        <p:nvSpPr>
          <p:cNvPr id="47" name="Shape 45"/>
          <p:cNvSpPr/>
          <p:nvPr/>
        </p:nvSpPr>
        <p:spPr>
          <a:xfrm>
            <a:off x="6053328" y="4315968"/>
            <a:ext cx="2724912" cy="274320"/>
          </a:xfrm>
          <a:prstGeom prst="roundRect">
            <a:avLst>
              <a:gd name="adj" fmla="val 50000"/>
            </a:avLst>
          </a:prstGeom>
          <a:solidFill>
            <a:srgbClr val="E7F1F4"/>
          </a:solidFill>
          <a:ln w="9525">
            <a:solidFill>
              <a:srgbClr val="1C7293"/>
            </a:solidFill>
            <a:prstDash val="solid"/>
          </a:ln>
        </p:spPr>
      </p:sp>
      <p:sp>
        <p:nvSpPr>
          <p:cNvPr id="48" name="Text 46"/>
          <p:cNvSpPr txBox="1"/>
          <p:nvPr/>
        </p:nvSpPr>
        <p:spPr>
          <a:xfrm>
            <a:off x="6080760" y="4315968"/>
            <a:ext cx="2670048" cy="274320"/>
          </a:xfrm>
          <a:prstGeom prst="rect">
            <a:avLst/>
          </a:prstGeom>
          <a:noFill/>
          <a:ln/>
        </p:spPr>
        <p:txBody>
          <a:bodyPr wrap="square" lIns="0" tIns="0" rIns="0" bIns="0" rtlCol="0" anchor="ctr"/>
          <a:lstStyle/>
          <a:p>
            <a:pPr algn="ctr" indent="0" marL="0">
              <a:buNone/>
            </a:pPr>
            <a:r>
              <a:rPr lang="en-US" sz="950" b="1" dirty="0">
                <a:solidFill>
                  <a:srgbClr val="21295C"/>
                </a:solidFill>
                <a:latin typeface="Calibri" pitchFamily="34" charset="0"/>
                <a:ea typeface="Calibri" pitchFamily="34" charset="-122"/>
                <a:cs typeface="Calibri" pitchFamily="34" charset="-120"/>
              </a:rPr>
              <a:t>Failure Analysis</a:t>
            </a:r>
            <a:endParaRPr lang="en-US" sz="950" dirty="0"/>
          </a:p>
        </p:txBody>
      </p:sp>
      <p:sp>
        <p:nvSpPr>
          <p:cNvPr id="49" name="Text 47"/>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50" name="Text 48"/>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MODEL ARCHITECTURE</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600" b="1" dirty="0">
                <a:solidFill>
                  <a:srgbClr val="21295C"/>
                </a:solidFill>
                <a:latin typeface="Cambria" pitchFamily="34" charset="0"/>
                <a:ea typeface="Cambria" pitchFamily="34" charset="-122"/>
                <a:cs typeface="Cambria" pitchFamily="34" charset="-120"/>
              </a:rPr>
              <a:t>U-Net Architecture and Model Configuration</a:t>
            </a:r>
            <a:endParaRPr lang="en-US" sz="2600" dirty="0"/>
          </a:p>
        </p:txBody>
      </p:sp>
      <p:sp>
        <p:nvSpPr>
          <p:cNvPr id="4" name="Shape 2"/>
          <p:cNvSpPr/>
          <p:nvPr/>
        </p:nvSpPr>
        <p:spPr>
          <a:xfrm>
            <a:off x="365760" y="960120"/>
            <a:ext cx="3931920" cy="338328"/>
          </a:xfrm>
          <a:prstGeom prst="roundRect">
            <a:avLst>
              <a:gd name="adj" fmla="val 16216"/>
            </a:avLst>
          </a:prstGeom>
          <a:solidFill>
            <a:srgbClr val="DCEBF1"/>
          </a:solidFill>
          <a:ln w="17780">
            <a:solidFill>
              <a:srgbClr val="065A82"/>
            </a:solidFill>
            <a:prstDash val="solid"/>
          </a:ln>
        </p:spPr>
      </p:sp>
      <p:sp>
        <p:nvSpPr>
          <p:cNvPr id="5" name="Text 3"/>
          <p:cNvSpPr txBox="1"/>
          <p:nvPr/>
        </p:nvSpPr>
        <p:spPr>
          <a:xfrm>
            <a:off x="402336" y="960120"/>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INPUT RGB IMAGE  (3 channels)</a:t>
            </a:r>
            <a:endParaRPr lang="en-US" sz="860" dirty="0"/>
          </a:p>
        </p:txBody>
      </p:sp>
      <p:sp>
        <p:nvSpPr>
          <p:cNvPr id="6" name="Shape 4"/>
          <p:cNvSpPr/>
          <p:nvPr/>
        </p:nvSpPr>
        <p:spPr>
          <a:xfrm>
            <a:off x="2331720" y="1305763"/>
            <a:ext cx="0" cy="31090"/>
          </a:xfrm>
          <a:prstGeom prst="line">
            <a:avLst/>
          </a:prstGeom>
          <a:noFill/>
          <a:ln w="22225">
            <a:solidFill>
              <a:srgbClr val="1C7293"/>
            </a:solidFill>
            <a:prstDash val="solid"/>
            <a:tailEnd type="triangle"/>
          </a:ln>
        </p:spPr>
      </p:sp>
      <p:sp>
        <p:nvSpPr>
          <p:cNvPr id="7" name="Shape 5"/>
          <p:cNvSpPr/>
          <p:nvPr/>
        </p:nvSpPr>
        <p:spPr>
          <a:xfrm>
            <a:off x="365760" y="1344168"/>
            <a:ext cx="3931920" cy="338328"/>
          </a:xfrm>
          <a:prstGeom prst="roundRect">
            <a:avLst>
              <a:gd name="adj" fmla="val 16216"/>
            </a:avLst>
          </a:prstGeom>
          <a:solidFill>
            <a:srgbClr val="F2F8FA"/>
          </a:solidFill>
          <a:ln w="12700">
            <a:solidFill>
              <a:srgbClr val="B9D3DC"/>
            </a:solidFill>
            <a:prstDash val="solid"/>
          </a:ln>
        </p:spPr>
      </p:sp>
      <p:sp>
        <p:nvSpPr>
          <p:cNvPr id="8" name="Text 6"/>
          <p:cNvSpPr txBox="1"/>
          <p:nvPr/>
        </p:nvSpPr>
        <p:spPr>
          <a:xfrm>
            <a:off x="402336" y="1344168"/>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Encoder / Downsampling</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Double Conv → ReLU → Max Pooling</a:t>
            </a:r>
            <a:endParaRPr lang="en-US" sz="860" dirty="0"/>
          </a:p>
        </p:txBody>
      </p:sp>
      <p:sp>
        <p:nvSpPr>
          <p:cNvPr id="9" name="Shape 7"/>
          <p:cNvSpPr/>
          <p:nvPr/>
        </p:nvSpPr>
        <p:spPr>
          <a:xfrm>
            <a:off x="2331720" y="1689811"/>
            <a:ext cx="0" cy="31090"/>
          </a:xfrm>
          <a:prstGeom prst="line">
            <a:avLst/>
          </a:prstGeom>
          <a:noFill/>
          <a:ln w="22225">
            <a:solidFill>
              <a:srgbClr val="1C7293"/>
            </a:solidFill>
            <a:prstDash val="solid"/>
            <a:tailEnd type="triangle"/>
          </a:ln>
        </p:spPr>
      </p:sp>
      <p:sp>
        <p:nvSpPr>
          <p:cNvPr id="10" name="Shape 8"/>
          <p:cNvSpPr/>
          <p:nvPr/>
        </p:nvSpPr>
        <p:spPr>
          <a:xfrm>
            <a:off x="365760" y="1728216"/>
            <a:ext cx="3931920" cy="338328"/>
          </a:xfrm>
          <a:prstGeom prst="roundRect">
            <a:avLst>
              <a:gd name="adj" fmla="val 16216"/>
            </a:avLst>
          </a:prstGeom>
          <a:solidFill>
            <a:srgbClr val="F2F8FA"/>
          </a:solidFill>
          <a:ln w="12700">
            <a:solidFill>
              <a:srgbClr val="B9D3DC"/>
            </a:solidFill>
            <a:prstDash val="solid"/>
          </a:ln>
        </p:spPr>
      </p:sp>
      <p:sp>
        <p:nvSpPr>
          <p:cNvPr id="11" name="Text 9"/>
          <p:cNvSpPr txBox="1"/>
          <p:nvPr/>
        </p:nvSpPr>
        <p:spPr>
          <a:xfrm>
            <a:off x="402336" y="1728216"/>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Middle / Bottleneck</a:t>
            </a:r>
            <a:endParaRPr lang="en-US" sz="860" dirty="0"/>
          </a:p>
        </p:txBody>
      </p:sp>
      <p:sp>
        <p:nvSpPr>
          <p:cNvPr id="12" name="Shape 10"/>
          <p:cNvSpPr/>
          <p:nvPr/>
        </p:nvSpPr>
        <p:spPr>
          <a:xfrm>
            <a:off x="2331720" y="2073859"/>
            <a:ext cx="0" cy="31090"/>
          </a:xfrm>
          <a:prstGeom prst="line">
            <a:avLst/>
          </a:prstGeom>
          <a:noFill/>
          <a:ln w="22225">
            <a:solidFill>
              <a:srgbClr val="1C7293"/>
            </a:solidFill>
            <a:prstDash val="solid"/>
            <a:tailEnd type="triangle"/>
          </a:ln>
        </p:spPr>
      </p:sp>
      <p:sp>
        <p:nvSpPr>
          <p:cNvPr id="13" name="Shape 11"/>
          <p:cNvSpPr/>
          <p:nvPr/>
        </p:nvSpPr>
        <p:spPr>
          <a:xfrm>
            <a:off x="365760" y="2112264"/>
            <a:ext cx="3931920" cy="338328"/>
          </a:xfrm>
          <a:prstGeom prst="roundRect">
            <a:avLst>
              <a:gd name="adj" fmla="val 16216"/>
            </a:avLst>
          </a:prstGeom>
          <a:solidFill>
            <a:srgbClr val="F2F8FA"/>
          </a:solidFill>
          <a:ln w="12700">
            <a:solidFill>
              <a:srgbClr val="B9D3DC"/>
            </a:solidFill>
            <a:prstDash val="solid"/>
          </a:ln>
        </p:spPr>
      </p:sp>
      <p:sp>
        <p:nvSpPr>
          <p:cNvPr id="14" name="Text 12"/>
          <p:cNvSpPr txBox="1"/>
          <p:nvPr/>
        </p:nvSpPr>
        <p:spPr>
          <a:xfrm>
            <a:off x="402336" y="2112264"/>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Decoder / Upsampling</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Transposed Conv → Concatenate → Double Conv</a:t>
            </a:r>
            <a:endParaRPr lang="en-US" sz="860" dirty="0"/>
          </a:p>
        </p:txBody>
      </p:sp>
      <p:sp>
        <p:nvSpPr>
          <p:cNvPr id="15" name="Shape 13"/>
          <p:cNvSpPr/>
          <p:nvPr/>
        </p:nvSpPr>
        <p:spPr>
          <a:xfrm>
            <a:off x="2331720" y="2457907"/>
            <a:ext cx="0" cy="31090"/>
          </a:xfrm>
          <a:prstGeom prst="line">
            <a:avLst/>
          </a:prstGeom>
          <a:noFill/>
          <a:ln w="22225">
            <a:solidFill>
              <a:srgbClr val="1C7293"/>
            </a:solidFill>
            <a:prstDash val="solid"/>
            <a:tailEnd type="triangle"/>
          </a:ln>
        </p:spPr>
      </p:sp>
      <p:sp>
        <p:nvSpPr>
          <p:cNvPr id="16" name="Shape 14"/>
          <p:cNvSpPr/>
          <p:nvPr/>
        </p:nvSpPr>
        <p:spPr>
          <a:xfrm>
            <a:off x="365760" y="2496312"/>
            <a:ext cx="3931920" cy="338328"/>
          </a:xfrm>
          <a:prstGeom prst="roundRect">
            <a:avLst>
              <a:gd name="adj" fmla="val 16216"/>
            </a:avLst>
          </a:prstGeom>
          <a:solidFill>
            <a:srgbClr val="F2F8FA"/>
          </a:solidFill>
          <a:ln w="12700">
            <a:solidFill>
              <a:srgbClr val="B9D3DC"/>
            </a:solidFill>
            <a:prstDash val="solid"/>
          </a:ln>
        </p:spPr>
      </p:sp>
      <p:sp>
        <p:nvSpPr>
          <p:cNvPr id="17" name="Text 15"/>
          <p:cNvSpPr txBox="1"/>
          <p:nvPr/>
        </p:nvSpPr>
        <p:spPr>
          <a:xfrm>
            <a:off x="402336" y="2496312"/>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Final Convolution</a:t>
            </a:r>
            <a:endParaRPr lang="en-US" sz="860" dirty="0"/>
          </a:p>
        </p:txBody>
      </p:sp>
      <p:sp>
        <p:nvSpPr>
          <p:cNvPr id="18" name="Shape 16"/>
          <p:cNvSpPr/>
          <p:nvPr/>
        </p:nvSpPr>
        <p:spPr>
          <a:xfrm>
            <a:off x="2331720" y="2841955"/>
            <a:ext cx="0" cy="31090"/>
          </a:xfrm>
          <a:prstGeom prst="line">
            <a:avLst/>
          </a:prstGeom>
          <a:noFill/>
          <a:ln w="22225">
            <a:solidFill>
              <a:srgbClr val="1C7293"/>
            </a:solidFill>
            <a:prstDash val="solid"/>
            <a:tailEnd type="triangle"/>
          </a:ln>
        </p:spPr>
      </p:sp>
      <p:sp>
        <p:nvSpPr>
          <p:cNvPr id="19" name="Shape 17"/>
          <p:cNvSpPr/>
          <p:nvPr/>
        </p:nvSpPr>
        <p:spPr>
          <a:xfrm>
            <a:off x="365760" y="2880360"/>
            <a:ext cx="3931920" cy="338328"/>
          </a:xfrm>
          <a:prstGeom prst="roundRect">
            <a:avLst>
              <a:gd name="adj" fmla="val 16216"/>
            </a:avLst>
          </a:prstGeom>
          <a:solidFill>
            <a:srgbClr val="F2F8FA"/>
          </a:solidFill>
          <a:ln w="12700">
            <a:solidFill>
              <a:srgbClr val="B9D3DC"/>
            </a:solidFill>
            <a:prstDash val="solid"/>
          </a:ln>
        </p:spPr>
      </p:sp>
      <p:sp>
        <p:nvSpPr>
          <p:cNvPr id="20" name="Text 18"/>
          <p:cNvSpPr txBox="1"/>
          <p:nvPr/>
        </p:nvSpPr>
        <p:spPr>
          <a:xfrm>
            <a:off x="402336" y="2880360"/>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Sigmoid</a:t>
            </a:r>
            <a:endParaRPr lang="en-US" sz="860" dirty="0"/>
          </a:p>
        </p:txBody>
      </p:sp>
      <p:sp>
        <p:nvSpPr>
          <p:cNvPr id="21" name="Shape 19"/>
          <p:cNvSpPr/>
          <p:nvPr/>
        </p:nvSpPr>
        <p:spPr>
          <a:xfrm>
            <a:off x="2331720" y="3226003"/>
            <a:ext cx="0" cy="31090"/>
          </a:xfrm>
          <a:prstGeom prst="line">
            <a:avLst/>
          </a:prstGeom>
          <a:noFill/>
          <a:ln w="22225">
            <a:solidFill>
              <a:srgbClr val="1C7293"/>
            </a:solidFill>
            <a:prstDash val="solid"/>
            <a:tailEnd type="triangle"/>
          </a:ln>
        </p:spPr>
      </p:sp>
      <p:sp>
        <p:nvSpPr>
          <p:cNvPr id="22" name="Shape 20"/>
          <p:cNvSpPr/>
          <p:nvPr/>
        </p:nvSpPr>
        <p:spPr>
          <a:xfrm>
            <a:off x="365760" y="3264408"/>
            <a:ext cx="3931920" cy="338328"/>
          </a:xfrm>
          <a:prstGeom prst="roundRect">
            <a:avLst>
              <a:gd name="adj" fmla="val 16216"/>
            </a:avLst>
          </a:prstGeom>
          <a:solidFill>
            <a:srgbClr val="DCEBF1"/>
          </a:solidFill>
          <a:ln w="17780">
            <a:solidFill>
              <a:srgbClr val="065A82"/>
            </a:solidFill>
            <a:prstDash val="solid"/>
          </a:ln>
        </p:spPr>
      </p:sp>
      <p:sp>
        <p:nvSpPr>
          <p:cNvPr id="23" name="Text 21"/>
          <p:cNvSpPr txBox="1"/>
          <p:nvPr/>
        </p:nvSpPr>
        <p:spPr>
          <a:xfrm>
            <a:off x="402336" y="3264408"/>
            <a:ext cx="3858768" cy="3383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OUTPUT RGB IMAGE</a:t>
            </a:r>
            <a:endParaRPr lang="en-US" sz="860" dirty="0"/>
          </a:p>
        </p:txBody>
      </p:sp>
      <p:sp>
        <p:nvSpPr>
          <p:cNvPr id="24" name="Shape 22"/>
          <p:cNvSpPr/>
          <p:nvPr/>
        </p:nvSpPr>
        <p:spPr>
          <a:xfrm>
            <a:off x="4297680" y="1513332"/>
            <a:ext cx="146304" cy="0"/>
          </a:xfrm>
          <a:prstGeom prst="line">
            <a:avLst/>
          </a:prstGeom>
          <a:noFill/>
          <a:ln w="13970">
            <a:solidFill>
              <a:srgbClr val="065A82"/>
            </a:solidFill>
            <a:prstDash val="dash"/>
          </a:ln>
        </p:spPr>
      </p:sp>
      <p:sp>
        <p:nvSpPr>
          <p:cNvPr id="25" name="Shape 23"/>
          <p:cNvSpPr/>
          <p:nvPr/>
        </p:nvSpPr>
        <p:spPr>
          <a:xfrm>
            <a:off x="4443984" y="1513332"/>
            <a:ext cx="0" cy="768096"/>
          </a:xfrm>
          <a:prstGeom prst="line">
            <a:avLst/>
          </a:prstGeom>
          <a:noFill/>
          <a:ln w="13970">
            <a:solidFill>
              <a:srgbClr val="065A82"/>
            </a:solidFill>
            <a:prstDash val="dash"/>
          </a:ln>
        </p:spPr>
      </p:sp>
      <p:sp>
        <p:nvSpPr>
          <p:cNvPr id="26" name="Shape 24"/>
          <p:cNvSpPr/>
          <p:nvPr/>
        </p:nvSpPr>
        <p:spPr>
          <a:xfrm>
            <a:off x="4443984" y="2281428"/>
            <a:ext cx="-146304" cy="0"/>
          </a:xfrm>
          <a:prstGeom prst="line">
            <a:avLst/>
          </a:prstGeom>
          <a:noFill/>
          <a:ln w="13970">
            <a:solidFill>
              <a:srgbClr val="065A82"/>
            </a:solidFill>
            <a:prstDash val="dash"/>
            <a:tailEnd type="triangle"/>
          </a:ln>
        </p:spPr>
      </p:sp>
      <p:sp>
        <p:nvSpPr>
          <p:cNvPr id="27" name="Text 25"/>
          <p:cNvSpPr txBox="1"/>
          <p:nvPr/>
        </p:nvSpPr>
        <p:spPr>
          <a:xfrm>
            <a:off x="4059936" y="1696212"/>
            <a:ext cx="768096" cy="137160"/>
          </a:xfrm>
          <a:prstGeom prst="rect">
            <a:avLst/>
          </a:prstGeom>
          <a:noFill/>
          <a:ln/>
        </p:spPr>
        <p:txBody>
          <a:bodyPr wrap="square" lIns="0" tIns="0" rIns="0" bIns="0" rtlCol="0" anchor="ctr"/>
          <a:lstStyle/>
          <a:p>
            <a:pPr algn="ctr" indent="0" marL="0">
              <a:buNone/>
            </a:pPr>
            <a:r>
              <a:rPr lang="en-US" sz="650" i="1" dirty="0">
                <a:solidFill>
                  <a:srgbClr val="065A82"/>
                </a:solidFill>
                <a:latin typeface="Calibri" pitchFamily="34" charset="0"/>
                <a:ea typeface="Calibri" pitchFamily="34" charset="-122"/>
                <a:cs typeface="Calibri" pitchFamily="34" charset="-120"/>
              </a:rPr>
              <a:t>skip</a:t>
            </a:r>
            <a:endParaRPr lang="en-US" sz="650" dirty="0"/>
          </a:p>
        </p:txBody>
      </p:sp>
      <p:sp>
        <p:nvSpPr>
          <p:cNvPr id="28" name="Text 26"/>
          <p:cNvSpPr txBox="1"/>
          <p:nvPr/>
        </p:nvSpPr>
        <p:spPr>
          <a:xfrm>
            <a:off x="4059936" y="1842516"/>
            <a:ext cx="768096" cy="137160"/>
          </a:xfrm>
          <a:prstGeom prst="rect">
            <a:avLst/>
          </a:prstGeom>
          <a:noFill/>
          <a:ln/>
        </p:spPr>
        <p:txBody>
          <a:bodyPr wrap="square" lIns="0" tIns="0" rIns="0" bIns="0" rtlCol="0" anchor="ctr"/>
          <a:lstStyle/>
          <a:p>
            <a:pPr algn="ctr" indent="0" marL="0">
              <a:buNone/>
            </a:pPr>
            <a:r>
              <a:rPr lang="en-US" sz="650" i="1" dirty="0">
                <a:solidFill>
                  <a:srgbClr val="065A82"/>
                </a:solidFill>
                <a:latin typeface="Calibri" pitchFamily="34" charset="0"/>
                <a:ea typeface="Calibri" pitchFamily="34" charset="-122"/>
                <a:cs typeface="Calibri" pitchFamily="34" charset="-120"/>
              </a:rPr>
              <a:t>connection</a:t>
            </a:r>
            <a:endParaRPr lang="en-US" sz="650" dirty="0"/>
          </a:p>
        </p:txBody>
      </p:sp>
      <p:sp>
        <p:nvSpPr>
          <p:cNvPr id="29" name="Text 27"/>
          <p:cNvSpPr txBox="1"/>
          <p:nvPr/>
        </p:nvSpPr>
        <p:spPr>
          <a:xfrm>
            <a:off x="4572000" y="914400"/>
            <a:ext cx="4206240" cy="237744"/>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Channel Configuration</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0" y="1188720"/>
          <a:ext cx="4206240" cy="914400"/>
        </p:xfrm>
        <a:graphic>
          <a:graphicData uri="http://schemas.openxmlformats.org/drawingml/2006/table">
            <a:tbl>
              <a:tblPr/>
              <a:tblGrid>
                <a:gridCol w="2468880"/>
                <a:gridCol w="1737360"/>
              </a:tblGrid>
              <a:tr h="2057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Stage</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Channels</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065A82"/>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Input</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Down1 (Encoder)</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3 → 32</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Down2 (Encoder)</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32 → 64</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Down3 (Encoder)</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64 → 128</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Middle (Bottleneck)</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128 → 256</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Up3 (Decoder)</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256 → 128</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Up2 (Decoder)</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128 → 64</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Up1 (Decoder)</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64 → 32</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2F8FA"/>
                    </a:solidFill>
                  </a:tcPr>
                </a:tc>
              </a:tr>
              <a:tr h="205740">
                <a:tc>
                  <a:txBody>
                    <a:bodyPr/>
                    <a:lstStyle/>
                    <a:p>
                      <a:pPr algn="l" indent="0" marL="0">
                        <a:buNone/>
                      </a:pPr>
                      <a:r>
                        <a:rPr lang="en-US" sz="1000" b="1" dirty="0">
                          <a:solidFill>
                            <a:srgbClr val="1B2B33"/>
                          </a:solidFill>
                          <a:latin typeface="Calibri" pitchFamily="34" charset="0"/>
                          <a:ea typeface="Calibri" pitchFamily="34" charset="-122"/>
                          <a:cs typeface="Calibri" pitchFamily="34" charset="-120"/>
                        </a:rPr>
                        <a:t>Final Output</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B2B33"/>
                          </a:solidFill>
                          <a:latin typeface="Calibri" pitchFamily="34" charset="0"/>
                          <a:ea typeface="Calibri" pitchFamily="34" charset="-122"/>
                          <a:cs typeface="Calibri" pitchFamily="34" charset="-120"/>
                        </a:rPr>
                        <a:t>3 (RGB)</a:t>
                      </a:r>
                      <a:endParaRPr lang="en-US" sz="1000" dirty="0">
                        <a:latin typeface="Calibri" charset="0"/>
                        <a:ea typeface="Calibri" charset="0"/>
                        <a:cs typeface="Calibri" charset="0"/>
                      </a:endParaRPr>
                    </a:p>
                  </a:txBody>
                  <a:tcPr marL="91440" marR="91440" marT="45720" marB="45720" anchor="ctr">
                    <a:lnL w="6350" cap="flat" cmpd="sng" algn="ctr">
                      <a:solidFill>
                        <a:srgbClr val="B9D3DC"/>
                      </a:solidFill>
                      <a:prstDash val="solid"/>
                      <a:round/>
                      <a:headEnd type="none" w="med" len="med"/>
                      <a:tailEnd type="none" w="med" len="med"/>
                    </a:lnL>
                    <a:lnR w="6350" cap="flat" cmpd="sng" algn="ctr">
                      <a:solidFill>
                        <a:srgbClr val="B9D3DC"/>
                      </a:solidFill>
                      <a:prstDash val="solid"/>
                      <a:round/>
                      <a:headEnd type="none" w="med" len="med"/>
                      <a:tailEnd type="none" w="med" len="med"/>
                    </a:lnR>
                    <a:lnT w="6350" cap="flat" cmpd="sng" algn="ctr">
                      <a:solidFill>
                        <a:srgbClr val="B9D3DC"/>
                      </a:solidFill>
                      <a:prstDash val="solid"/>
                      <a:round/>
                      <a:headEnd type="none" w="med" len="med"/>
                      <a:tailEnd type="none" w="med" len="med"/>
                    </a:lnT>
                    <a:lnB w="6350" cap="flat" cmpd="sng" algn="ctr">
                      <a:solidFill>
                        <a:srgbClr val="B9D3DC"/>
                      </a:solidFill>
                      <a:prstDash val="solid"/>
                      <a:round/>
                      <a:headEnd type="none" w="med" len="med"/>
                      <a:tailEnd type="none" w="med" len="med"/>
                    </a:lnB>
                    <a:solidFill>
                      <a:srgbClr val="FFFFFF"/>
                    </a:solidFill>
                  </a:tcPr>
                </a:tc>
              </a:tr>
            </a:tbl>
          </a:graphicData>
        </a:graphic>
      </p:graphicFrame>
      <p:sp>
        <p:nvSpPr>
          <p:cNvPr id="31" name="Text 28"/>
          <p:cNvSpPr txBox="1"/>
          <p:nvPr/>
        </p:nvSpPr>
        <p:spPr>
          <a:xfrm>
            <a:off x="365760" y="3657600"/>
            <a:ext cx="2743200" cy="201168"/>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Key Terms</a:t>
            </a:r>
            <a:endParaRPr lang="en-US" sz="1200" dirty="0"/>
          </a:p>
        </p:txBody>
      </p:sp>
      <p:sp>
        <p:nvSpPr>
          <p:cNvPr id="32" name="Text 29"/>
          <p:cNvSpPr txBox="1"/>
          <p:nvPr/>
        </p:nvSpPr>
        <p:spPr>
          <a:xfrm>
            <a:off x="365760" y="389534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Encoder:  </a:t>
            </a:r>
            <a:pPr algn="l" indent="0" marL="0">
              <a:buNone/>
            </a:pPr>
            <a:r>
              <a:rPr lang="en-US" sz="900" dirty="0">
                <a:solidFill>
                  <a:srgbClr val="1B2B33"/>
                </a:solidFill>
                <a:latin typeface="Calibri" pitchFamily="34" charset="0"/>
                <a:ea typeface="Calibri" pitchFamily="34" charset="-122"/>
                <a:cs typeface="Calibri" pitchFamily="34" charset="-120"/>
              </a:rPr>
              <a:t>extracts image features while reducing spatial size.</a:t>
            </a:r>
            <a:endParaRPr lang="en-US" sz="900" dirty="0"/>
          </a:p>
        </p:txBody>
      </p:sp>
      <p:sp>
        <p:nvSpPr>
          <p:cNvPr id="33" name="Text 30"/>
          <p:cNvSpPr txBox="1"/>
          <p:nvPr/>
        </p:nvSpPr>
        <p:spPr>
          <a:xfrm>
            <a:off x="365760" y="410108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Bottleneck:  </a:t>
            </a:r>
            <a:pPr algn="l" indent="0" marL="0">
              <a:buNone/>
            </a:pPr>
            <a:r>
              <a:rPr lang="en-US" sz="900" dirty="0">
                <a:solidFill>
                  <a:srgbClr val="1B2B33"/>
                </a:solidFill>
                <a:latin typeface="Calibri" pitchFamily="34" charset="0"/>
                <a:ea typeface="Calibri" pitchFamily="34" charset="-122"/>
                <a:cs typeface="Calibri" pitchFamily="34" charset="-120"/>
              </a:rPr>
              <a:t>the deepest feature representation.</a:t>
            </a:r>
            <a:endParaRPr lang="en-US" sz="900" dirty="0"/>
          </a:p>
        </p:txBody>
      </p:sp>
      <p:sp>
        <p:nvSpPr>
          <p:cNvPr id="34" name="Text 31"/>
          <p:cNvSpPr txBox="1"/>
          <p:nvPr/>
        </p:nvSpPr>
        <p:spPr>
          <a:xfrm>
            <a:off x="365760" y="430682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Decoder:  </a:t>
            </a:r>
            <a:pPr algn="l" indent="0" marL="0">
              <a:buNone/>
            </a:pPr>
            <a:r>
              <a:rPr lang="en-US" sz="900" dirty="0">
                <a:solidFill>
                  <a:srgbClr val="1B2B33"/>
                </a:solidFill>
                <a:latin typeface="Calibri" pitchFamily="34" charset="0"/>
                <a:ea typeface="Calibri" pitchFamily="34" charset="-122"/>
                <a:cs typeface="Calibri" pitchFamily="34" charset="-120"/>
              </a:rPr>
              <a:t>reconstructs the enhanced image.</a:t>
            </a:r>
            <a:endParaRPr lang="en-US" sz="900" dirty="0"/>
          </a:p>
        </p:txBody>
      </p:sp>
      <p:sp>
        <p:nvSpPr>
          <p:cNvPr id="35" name="Text 32"/>
          <p:cNvSpPr txBox="1"/>
          <p:nvPr/>
        </p:nvSpPr>
        <p:spPr>
          <a:xfrm>
            <a:off x="365760" y="451256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Skip connection:  </a:t>
            </a:r>
            <a:pPr algn="l" indent="0" marL="0">
              <a:buNone/>
            </a:pPr>
            <a:r>
              <a:rPr lang="en-US" sz="900" dirty="0">
                <a:solidFill>
                  <a:srgbClr val="1B2B33"/>
                </a:solidFill>
                <a:latin typeface="Calibri" pitchFamily="34" charset="0"/>
                <a:ea typeface="Calibri" pitchFamily="34" charset="-122"/>
                <a:cs typeface="Calibri" pitchFamily="34" charset="-120"/>
              </a:rPr>
              <a:t>transfers encoder features directly to the decoder.</a:t>
            </a:r>
            <a:endParaRPr lang="en-US" sz="900" dirty="0"/>
          </a:p>
        </p:txBody>
      </p:sp>
      <p:sp>
        <p:nvSpPr>
          <p:cNvPr id="36" name="Text 33"/>
          <p:cNvSpPr txBox="1"/>
          <p:nvPr/>
        </p:nvSpPr>
        <p:spPr>
          <a:xfrm>
            <a:off x="4791456" y="389534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Transposed convolution:  </a:t>
            </a:r>
            <a:pPr algn="l" indent="0" marL="0">
              <a:buNone/>
            </a:pPr>
            <a:r>
              <a:rPr lang="en-US" sz="900" dirty="0">
                <a:solidFill>
                  <a:srgbClr val="1B2B33"/>
                </a:solidFill>
                <a:latin typeface="Calibri" pitchFamily="34" charset="0"/>
                <a:ea typeface="Calibri" pitchFamily="34" charset="-122"/>
                <a:cs typeface="Calibri" pitchFamily="34" charset="-120"/>
              </a:rPr>
              <a:t>performs learned upsampling.</a:t>
            </a:r>
            <a:endParaRPr lang="en-US" sz="900" dirty="0"/>
          </a:p>
        </p:txBody>
      </p:sp>
      <p:sp>
        <p:nvSpPr>
          <p:cNvPr id="37" name="Text 34"/>
          <p:cNvSpPr txBox="1"/>
          <p:nvPr/>
        </p:nvSpPr>
        <p:spPr>
          <a:xfrm>
            <a:off x="4791456" y="410108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ReLU:  </a:t>
            </a:r>
            <a:pPr algn="l" indent="0" marL="0">
              <a:buNone/>
            </a:pPr>
            <a:r>
              <a:rPr lang="en-US" sz="900" dirty="0">
                <a:solidFill>
                  <a:srgbClr val="1B2B33"/>
                </a:solidFill>
                <a:latin typeface="Calibri" pitchFamily="34" charset="0"/>
                <a:ea typeface="Calibri" pitchFamily="34" charset="-122"/>
                <a:cs typeface="Calibri" pitchFamily="34" charset="-120"/>
              </a:rPr>
              <a:t>activation function used after convolution.</a:t>
            </a:r>
            <a:endParaRPr lang="en-US" sz="900" dirty="0"/>
          </a:p>
        </p:txBody>
      </p:sp>
      <p:sp>
        <p:nvSpPr>
          <p:cNvPr id="38" name="Text 35"/>
          <p:cNvSpPr txBox="1"/>
          <p:nvPr/>
        </p:nvSpPr>
        <p:spPr>
          <a:xfrm>
            <a:off x="4791456" y="4306824"/>
            <a:ext cx="4279392" cy="205740"/>
          </a:xfrm>
          <a:prstGeom prst="rect">
            <a:avLst/>
          </a:prstGeom>
          <a:noFill/>
          <a:ln/>
        </p:spPr>
        <p:txBody>
          <a:bodyPr wrap="square" lIns="0" tIns="0" rIns="0" bIns="0" rtlCol="0" anchor="t"/>
          <a:lstStyle/>
          <a:p>
            <a:pPr algn="l" indent="0" marL="0">
              <a:buNone/>
            </a:pPr>
            <a:r>
              <a:rPr lang="en-US" sz="900" b="1" dirty="0">
                <a:solidFill>
                  <a:srgbClr val="21295C"/>
                </a:solidFill>
                <a:latin typeface="Calibri" pitchFamily="34" charset="0"/>
                <a:ea typeface="Calibri" pitchFamily="34" charset="-122"/>
                <a:cs typeface="Calibri" pitchFamily="34" charset="-120"/>
              </a:rPr>
              <a:t>Sigmoid:  </a:t>
            </a:r>
            <a:pPr algn="l" indent="0" marL="0">
              <a:buNone/>
            </a:pPr>
            <a:r>
              <a:rPr lang="en-US" sz="900" dirty="0">
                <a:solidFill>
                  <a:srgbClr val="1B2B33"/>
                </a:solidFill>
                <a:latin typeface="Calibri" pitchFamily="34" charset="0"/>
                <a:ea typeface="Calibri" pitchFamily="34" charset="-122"/>
                <a:cs typeface="Calibri" pitchFamily="34" charset="-120"/>
              </a:rPr>
              <a:t>produces output values between 0 and 1.</a:t>
            </a:r>
            <a:endParaRPr lang="en-US" sz="900" dirty="0"/>
          </a:p>
        </p:txBody>
      </p:sp>
      <p:sp>
        <p:nvSpPr>
          <p:cNvPr id="39" name="Text 36"/>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40" name="Text 37"/>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TRAINING PIPELINE</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600" b="1" dirty="0">
                <a:solidFill>
                  <a:srgbClr val="21295C"/>
                </a:solidFill>
                <a:latin typeface="Cambria" pitchFamily="34" charset="0"/>
                <a:ea typeface="Cambria" pitchFamily="34" charset="-122"/>
                <a:cs typeface="Cambria" pitchFamily="34" charset="-120"/>
              </a:rPr>
              <a:t>Model Training, Validation and Final Model Selection</a:t>
            </a:r>
            <a:endParaRPr lang="en-US" sz="2600" dirty="0"/>
          </a:p>
        </p:txBody>
      </p:sp>
      <p:sp>
        <p:nvSpPr>
          <p:cNvPr id="4" name="Shape 2"/>
          <p:cNvSpPr/>
          <p:nvPr/>
        </p:nvSpPr>
        <p:spPr>
          <a:xfrm>
            <a:off x="365760" y="960120"/>
            <a:ext cx="2286000" cy="457200"/>
          </a:xfrm>
          <a:prstGeom prst="roundRect">
            <a:avLst>
              <a:gd name="adj" fmla="val 12000"/>
            </a:avLst>
          </a:prstGeom>
          <a:solidFill>
            <a:srgbClr val="E7F1F4"/>
          </a:solidFill>
          <a:ln w="12700">
            <a:solidFill>
              <a:srgbClr val="B9D3DC"/>
            </a:solidFill>
            <a:prstDash val="solid"/>
          </a:ln>
        </p:spPr>
      </p:sp>
      <p:sp>
        <p:nvSpPr>
          <p:cNvPr id="5" name="Text 3"/>
          <p:cNvSpPr txBox="1"/>
          <p:nvPr/>
        </p:nvSpPr>
        <p:spPr>
          <a:xfrm>
            <a:off x="402336" y="960120"/>
            <a:ext cx="2212848" cy="45720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Training Data</a:t>
            </a:r>
            <a:endParaRPr lang="en-US" sz="1050" dirty="0"/>
          </a:p>
        </p:txBody>
      </p:sp>
      <p:sp>
        <p:nvSpPr>
          <p:cNvPr id="6" name="Shape 4"/>
          <p:cNvSpPr/>
          <p:nvPr/>
        </p:nvSpPr>
        <p:spPr>
          <a:xfrm>
            <a:off x="365760" y="1600200"/>
            <a:ext cx="2286000" cy="457200"/>
          </a:xfrm>
          <a:prstGeom prst="roundRect">
            <a:avLst>
              <a:gd name="adj" fmla="val 12000"/>
            </a:avLst>
          </a:prstGeom>
          <a:solidFill>
            <a:srgbClr val="E7F1F4"/>
          </a:solidFill>
          <a:ln w="12700">
            <a:solidFill>
              <a:srgbClr val="B9D3DC"/>
            </a:solidFill>
            <a:prstDash val="solid"/>
          </a:ln>
        </p:spPr>
      </p:sp>
      <p:sp>
        <p:nvSpPr>
          <p:cNvPr id="7" name="Text 5"/>
          <p:cNvSpPr txBox="1"/>
          <p:nvPr/>
        </p:nvSpPr>
        <p:spPr>
          <a:xfrm>
            <a:off x="402336" y="1600200"/>
            <a:ext cx="2212848" cy="45720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Validation Data</a:t>
            </a:r>
            <a:endParaRPr lang="en-US" sz="1050" dirty="0"/>
          </a:p>
        </p:txBody>
      </p:sp>
      <p:sp>
        <p:nvSpPr>
          <p:cNvPr id="8" name="Shape 6"/>
          <p:cNvSpPr/>
          <p:nvPr/>
        </p:nvSpPr>
        <p:spPr>
          <a:xfrm>
            <a:off x="2880360" y="960120"/>
            <a:ext cx="2423160" cy="457200"/>
          </a:xfrm>
          <a:prstGeom prst="roundRect">
            <a:avLst>
              <a:gd name="adj" fmla="val 12000"/>
            </a:avLst>
          </a:prstGeom>
          <a:solidFill>
            <a:srgbClr val="F2F8FA"/>
          </a:solidFill>
          <a:ln w="12700">
            <a:solidFill>
              <a:srgbClr val="B9D3DC"/>
            </a:solidFill>
            <a:prstDash val="solid"/>
          </a:ln>
        </p:spPr>
      </p:sp>
      <p:sp>
        <p:nvSpPr>
          <p:cNvPr id="9" name="Text 7"/>
          <p:cNvSpPr txBox="1"/>
          <p:nvPr/>
        </p:nvSpPr>
        <p:spPr>
          <a:xfrm>
            <a:off x="2916936" y="960120"/>
            <a:ext cx="2350008" cy="45720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Model Training</a:t>
            </a:r>
            <a:endParaRPr lang="en-US" sz="1050" dirty="0"/>
          </a:p>
        </p:txBody>
      </p:sp>
      <p:sp>
        <p:nvSpPr>
          <p:cNvPr id="10" name="Shape 8"/>
          <p:cNvSpPr/>
          <p:nvPr/>
        </p:nvSpPr>
        <p:spPr>
          <a:xfrm>
            <a:off x="2880360" y="1600200"/>
            <a:ext cx="2423160" cy="457200"/>
          </a:xfrm>
          <a:prstGeom prst="roundRect">
            <a:avLst>
              <a:gd name="adj" fmla="val 12000"/>
            </a:avLst>
          </a:prstGeom>
          <a:solidFill>
            <a:srgbClr val="F2F8FA"/>
          </a:solidFill>
          <a:ln w="12700">
            <a:solidFill>
              <a:srgbClr val="B9D3DC"/>
            </a:solidFill>
            <a:prstDash val="solid"/>
          </a:ln>
        </p:spPr>
      </p:sp>
      <p:sp>
        <p:nvSpPr>
          <p:cNvPr id="11" name="Text 9"/>
          <p:cNvSpPr txBox="1"/>
          <p:nvPr/>
        </p:nvSpPr>
        <p:spPr>
          <a:xfrm>
            <a:off x="2916936" y="1600200"/>
            <a:ext cx="2350008" cy="457200"/>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Monitor Model</a:t>
            </a:r>
            <a:endParaRPr lang="en-US" sz="1000" dirty="0"/>
          </a:p>
          <a:p>
            <a:pPr algn="ctr" indent="0" marL="0">
              <a:buNone/>
            </a:pPr>
            <a:r>
              <a:rPr lang="en-US" sz="1000" b="1" dirty="0">
                <a:solidFill>
                  <a:srgbClr val="21295C"/>
                </a:solidFill>
                <a:latin typeface="Calibri" pitchFamily="34" charset="0"/>
                <a:ea typeface="Calibri" pitchFamily="34" charset="-122"/>
                <a:cs typeface="Calibri" pitchFamily="34" charset="-120"/>
              </a:rPr>
              <a:t>Performance</a:t>
            </a:r>
            <a:endParaRPr lang="en-US" sz="1000" dirty="0"/>
          </a:p>
        </p:txBody>
      </p:sp>
      <p:sp>
        <p:nvSpPr>
          <p:cNvPr id="12" name="Shape 10"/>
          <p:cNvSpPr/>
          <p:nvPr/>
        </p:nvSpPr>
        <p:spPr>
          <a:xfrm>
            <a:off x="2670048" y="1188720"/>
            <a:ext cx="283464" cy="0"/>
          </a:xfrm>
          <a:prstGeom prst="line">
            <a:avLst/>
          </a:prstGeom>
          <a:noFill/>
          <a:ln w="22225">
            <a:solidFill>
              <a:srgbClr val="1C7293"/>
            </a:solidFill>
            <a:prstDash val="solid"/>
            <a:tailEnd type="triangle"/>
          </a:ln>
        </p:spPr>
      </p:sp>
      <p:sp>
        <p:nvSpPr>
          <p:cNvPr id="13" name="Shape 11"/>
          <p:cNvSpPr/>
          <p:nvPr/>
        </p:nvSpPr>
        <p:spPr>
          <a:xfrm>
            <a:off x="2670048" y="1828800"/>
            <a:ext cx="283464" cy="0"/>
          </a:xfrm>
          <a:prstGeom prst="line">
            <a:avLst/>
          </a:prstGeom>
          <a:noFill/>
          <a:ln w="22225">
            <a:solidFill>
              <a:srgbClr val="1C7293"/>
            </a:solidFill>
            <a:prstDash val="solid"/>
            <a:tailEnd type="triangle"/>
          </a:ln>
        </p:spPr>
      </p:sp>
      <p:sp>
        <p:nvSpPr>
          <p:cNvPr id="14" name="Shape 12"/>
          <p:cNvSpPr/>
          <p:nvPr/>
        </p:nvSpPr>
        <p:spPr>
          <a:xfrm>
            <a:off x="5623560" y="960120"/>
            <a:ext cx="1965960" cy="457200"/>
          </a:xfrm>
          <a:prstGeom prst="roundRect">
            <a:avLst>
              <a:gd name="adj" fmla="val 12000"/>
            </a:avLst>
          </a:prstGeom>
          <a:solidFill>
            <a:srgbClr val="DCEBF1"/>
          </a:solidFill>
          <a:ln w="17780">
            <a:solidFill>
              <a:srgbClr val="065A82"/>
            </a:solidFill>
            <a:prstDash val="solid"/>
          </a:ln>
        </p:spPr>
      </p:sp>
      <p:sp>
        <p:nvSpPr>
          <p:cNvPr id="15" name="Text 13"/>
          <p:cNvSpPr txBox="1"/>
          <p:nvPr/>
        </p:nvSpPr>
        <p:spPr>
          <a:xfrm>
            <a:off x="5660136" y="960120"/>
            <a:ext cx="1892808" cy="45720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Final Model</a:t>
            </a:r>
            <a:endParaRPr lang="en-US" sz="1100" dirty="0"/>
          </a:p>
        </p:txBody>
      </p:sp>
      <p:sp>
        <p:nvSpPr>
          <p:cNvPr id="16" name="Shape 14"/>
          <p:cNvSpPr/>
          <p:nvPr/>
        </p:nvSpPr>
        <p:spPr>
          <a:xfrm>
            <a:off x="5321808" y="1188720"/>
            <a:ext cx="283464" cy="0"/>
          </a:xfrm>
          <a:prstGeom prst="line">
            <a:avLst/>
          </a:prstGeom>
          <a:noFill/>
          <a:ln w="22225">
            <a:solidFill>
              <a:srgbClr val="1C7293"/>
            </a:solidFill>
            <a:prstDash val="solid"/>
            <a:tailEnd type="triangle"/>
          </a:ln>
        </p:spPr>
      </p:sp>
      <p:sp>
        <p:nvSpPr>
          <p:cNvPr id="17" name="Shape 15"/>
          <p:cNvSpPr/>
          <p:nvPr/>
        </p:nvSpPr>
        <p:spPr>
          <a:xfrm>
            <a:off x="6606540" y="1435608"/>
            <a:ext cx="0" cy="146304"/>
          </a:xfrm>
          <a:prstGeom prst="line">
            <a:avLst/>
          </a:prstGeom>
          <a:noFill/>
          <a:ln w="22225">
            <a:solidFill>
              <a:srgbClr val="1C7293"/>
            </a:solidFill>
            <a:prstDash val="solid"/>
            <a:tailEnd type="triangle"/>
          </a:ln>
        </p:spPr>
      </p:sp>
      <p:sp>
        <p:nvSpPr>
          <p:cNvPr id="18" name="Shape 16"/>
          <p:cNvSpPr/>
          <p:nvPr/>
        </p:nvSpPr>
        <p:spPr>
          <a:xfrm>
            <a:off x="5623560" y="1581912"/>
            <a:ext cx="1965960" cy="457200"/>
          </a:xfrm>
          <a:prstGeom prst="roundRect">
            <a:avLst>
              <a:gd name="adj" fmla="val 12000"/>
            </a:avLst>
          </a:prstGeom>
          <a:solidFill>
            <a:srgbClr val="DCEBF1"/>
          </a:solidFill>
          <a:ln w="17780">
            <a:solidFill>
              <a:srgbClr val="065A82"/>
            </a:solidFill>
            <a:prstDash val="solid"/>
          </a:ln>
        </p:spPr>
      </p:sp>
      <p:sp>
        <p:nvSpPr>
          <p:cNvPr id="19" name="Text 17"/>
          <p:cNvSpPr txBox="1"/>
          <p:nvPr/>
        </p:nvSpPr>
        <p:spPr>
          <a:xfrm>
            <a:off x="5660136" y="1581912"/>
            <a:ext cx="1892808" cy="457200"/>
          </a:xfrm>
          <a:prstGeom prst="rect">
            <a:avLst/>
          </a:prstGeom>
          <a:noFill/>
          <a:ln/>
        </p:spPr>
        <p:txBody>
          <a:bodyPr wrap="square" lIns="0" tIns="0" rIns="0" bIns="0" rtlCol="0" anchor="ctr"/>
          <a:lstStyle/>
          <a:p>
            <a:pPr algn="ctr" indent="0" marL="0">
              <a:buNone/>
            </a:pPr>
            <a:r>
              <a:rPr lang="en-US" sz="1100" b="1" dirty="0">
                <a:solidFill>
                  <a:srgbClr val="21295C"/>
                </a:solidFill>
                <a:latin typeface="Calibri" pitchFamily="34" charset="0"/>
                <a:ea typeface="Calibri" pitchFamily="34" charset="-122"/>
                <a:cs typeface="Calibri" pitchFamily="34" charset="-120"/>
              </a:rPr>
              <a:t>Freeze Model</a:t>
            </a:r>
            <a:endParaRPr lang="en-US" sz="1100" dirty="0"/>
          </a:p>
        </p:txBody>
      </p:sp>
      <p:sp>
        <p:nvSpPr>
          <p:cNvPr id="20" name="Shape 18"/>
          <p:cNvSpPr/>
          <p:nvPr/>
        </p:nvSpPr>
        <p:spPr>
          <a:xfrm>
            <a:off x="6606540" y="2057400"/>
            <a:ext cx="0" cy="146304"/>
          </a:xfrm>
          <a:prstGeom prst="line">
            <a:avLst/>
          </a:prstGeom>
          <a:noFill/>
          <a:ln w="22225">
            <a:solidFill>
              <a:srgbClr val="1C7293"/>
            </a:solidFill>
            <a:prstDash val="solid"/>
            <a:tailEnd type="triangle"/>
          </a:ln>
        </p:spPr>
      </p:sp>
      <p:sp>
        <p:nvSpPr>
          <p:cNvPr id="21" name="Shape 19"/>
          <p:cNvSpPr/>
          <p:nvPr/>
        </p:nvSpPr>
        <p:spPr>
          <a:xfrm>
            <a:off x="5623560" y="2203704"/>
            <a:ext cx="1965960" cy="457200"/>
          </a:xfrm>
          <a:prstGeom prst="roundRect">
            <a:avLst>
              <a:gd name="adj" fmla="val 12000"/>
            </a:avLst>
          </a:prstGeom>
          <a:solidFill>
            <a:srgbClr val="F2F8FA"/>
          </a:solidFill>
          <a:ln w="12700">
            <a:solidFill>
              <a:srgbClr val="B9D3DC"/>
            </a:solidFill>
            <a:prstDash val="solid"/>
          </a:ln>
        </p:spPr>
      </p:sp>
      <p:sp>
        <p:nvSpPr>
          <p:cNvPr id="22" name="Text 20"/>
          <p:cNvSpPr txBox="1"/>
          <p:nvPr/>
        </p:nvSpPr>
        <p:spPr>
          <a:xfrm>
            <a:off x="5660136" y="2203704"/>
            <a:ext cx="1892808" cy="45720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Held-out Test Set</a:t>
            </a:r>
            <a:endParaRPr lang="en-US" sz="1050" dirty="0"/>
          </a:p>
        </p:txBody>
      </p:sp>
      <p:sp>
        <p:nvSpPr>
          <p:cNvPr id="23" name="Text 21"/>
          <p:cNvSpPr txBox="1"/>
          <p:nvPr/>
        </p:nvSpPr>
        <p:spPr>
          <a:xfrm>
            <a:off x="365760" y="2331720"/>
            <a:ext cx="3200400" cy="219456"/>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Data Roles</a:t>
            </a:r>
            <a:endParaRPr lang="en-US" sz="1250" dirty="0"/>
          </a:p>
        </p:txBody>
      </p:sp>
      <p:sp>
        <p:nvSpPr>
          <p:cNvPr id="24" name="Text 22"/>
          <p:cNvSpPr txBox="1"/>
          <p:nvPr/>
        </p:nvSpPr>
        <p:spPr>
          <a:xfrm>
            <a:off x="365760" y="2606040"/>
            <a:ext cx="4892040" cy="1280160"/>
          </a:xfrm>
          <a:prstGeom prst="rect">
            <a:avLst/>
          </a:prstGeom>
          <a:noFill/>
          <a:ln/>
        </p:spPr>
        <p:txBody>
          <a:bodyPr wrap="square" lIns="0" tIns="0" rIns="0" bIns="0" rtlCol="0" anchor="t"/>
          <a:lstStyle/>
          <a:p>
            <a:pPr algn="l" marL="177800" indent="-177800">
              <a:spcAft>
                <a:spcPts val="800"/>
              </a:spcAft>
              <a:buSzPct val="100000"/>
              <a:buChar char="✦"/>
            </a:pPr>
            <a:r>
              <a:rPr lang="en-US" sz="1100" dirty="0">
                <a:solidFill>
                  <a:srgbClr val="1B2B33"/>
                </a:solidFill>
                <a:latin typeface="Calibri" pitchFamily="34" charset="0"/>
                <a:ea typeface="Calibri" pitchFamily="34" charset="-122"/>
                <a:cs typeface="Calibri" pitchFamily="34" charset="-120"/>
              </a:rPr>
              <a:t>Training set is used to learn model parameters.</a:t>
            </a:r>
            <a:endParaRPr lang="en-US" sz="1100" dirty="0"/>
          </a:p>
          <a:p>
            <a:pPr algn="l" marL="177800" indent="-177800">
              <a:spcAft>
                <a:spcPts val="800"/>
              </a:spcAft>
              <a:buSzPct val="100000"/>
              <a:buChar char="✦"/>
            </a:pPr>
            <a:r>
              <a:rPr lang="en-US" sz="1100" dirty="0">
                <a:solidFill>
                  <a:srgbClr val="1B2B33"/>
                </a:solidFill>
                <a:latin typeface="Calibri" pitchFamily="34" charset="0"/>
                <a:ea typeface="Calibri" pitchFamily="34" charset="-122"/>
                <a:cs typeface="Calibri" pitchFamily="34" charset="-120"/>
              </a:rPr>
              <a:t>Validation set is used to monitor model performance during development.</a:t>
            </a:r>
            <a:endParaRPr lang="en-US" sz="1100" dirty="0"/>
          </a:p>
          <a:p>
            <a:pPr algn="l" marL="177800" indent="-177800">
              <a:spcAft>
                <a:spcPts val="800"/>
              </a:spcAft>
              <a:buSzPct val="100000"/>
              <a:buChar char="✦"/>
            </a:pPr>
            <a:r>
              <a:rPr lang="en-US" sz="1100" dirty="0">
                <a:solidFill>
                  <a:srgbClr val="1B2B33"/>
                </a:solidFill>
                <a:latin typeface="Calibri" pitchFamily="34" charset="0"/>
                <a:ea typeface="Calibri" pitchFamily="34" charset="-122"/>
                <a:cs typeface="Calibri" pitchFamily="34" charset="-120"/>
              </a:rPr>
              <a:t>Test set is kept separate for final evaluation.</a:t>
            </a:r>
            <a:endParaRPr lang="en-US" sz="1100" dirty="0"/>
          </a:p>
          <a:p>
            <a:pPr algn="l" marL="177800" indent="-177800">
              <a:spcAft>
                <a:spcPts val="800"/>
              </a:spcAft>
              <a:buSzPct val="100000"/>
              <a:buChar char="✦"/>
            </a:pPr>
            <a:r>
              <a:rPr lang="en-US" sz="1100" dirty="0">
                <a:solidFill>
                  <a:srgbClr val="1B2B33"/>
                </a:solidFill>
                <a:latin typeface="Calibri" pitchFamily="34" charset="0"/>
                <a:ea typeface="Calibri" pitchFamily="34" charset="-122"/>
                <a:cs typeface="Calibri" pitchFamily="34" charset="-120"/>
              </a:rPr>
              <a:t>The frozen model is loaded later without changing its learned parameters.</a:t>
            </a:r>
            <a:endParaRPr lang="en-US" sz="1100" dirty="0"/>
          </a:p>
        </p:txBody>
      </p:sp>
      <p:sp>
        <p:nvSpPr>
          <p:cNvPr id="25" name="Shape 23"/>
          <p:cNvSpPr/>
          <p:nvPr/>
        </p:nvSpPr>
        <p:spPr>
          <a:xfrm>
            <a:off x="365760" y="4023360"/>
            <a:ext cx="4892040" cy="594360"/>
          </a:xfrm>
          <a:prstGeom prst="roundRect">
            <a:avLst>
              <a:gd name="adj" fmla="val 9231"/>
            </a:avLst>
          </a:prstGeom>
          <a:solidFill>
            <a:srgbClr val="DCEBF1"/>
          </a:solidFill>
          <a:ln w="17780">
            <a:solidFill>
              <a:srgbClr val="065A82"/>
            </a:solidFill>
            <a:prstDash val="solid"/>
          </a:ln>
        </p:spPr>
      </p:sp>
      <p:sp>
        <p:nvSpPr>
          <p:cNvPr id="26" name="Text 24"/>
          <p:cNvSpPr txBox="1"/>
          <p:nvPr/>
        </p:nvSpPr>
        <p:spPr>
          <a:xfrm>
            <a:off x="402336" y="4023360"/>
            <a:ext cx="4818888" cy="594360"/>
          </a:xfrm>
          <a:prstGeom prst="rect">
            <a:avLst/>
          </a:prstGeom>
          <a:noFill/>
          <a:ln/>
        </p:spPr>
        <p:txBody>
          <a:bodyPr wrap="square" lIns="0" tIns="0" rIns="0" bIns="0" rtlCol="0" anchor="ctr"/>
          <a:lstStyle/>
          <a:p>
            <a:pPr algn="l" indent="0" marL="0">
              <a:buNone/>
            </a:pPr>
            <a:r>
              <a:rPr lang="en-US" sz="950" dirty="0">
                <a:solidFill>
                  <a:srgbClr val="21295C"/>
                </a:solidFill>
                <a:latin typeface="Calibri" pitchFamily="34" charset="0"/>
                <a:ea typeface="Calibri" pitchFamily="34" charset="-122"/>
                <a:cs typeface="Calibri" pitchFamily="34" charset="-120"/>
              </a:rPr>
              <a:t>IMPORTANT CONCEPT — Frozen Model:</a:t>
            </a:r>
            <a:endParaRPr lang="en-US" sz="950" dirty="0"/>
          </a:p>
          <a:p>
            <a:pPr algn="l" indent="0" marL="0">
              <a:buNone/>
            </a:pPr>
            <a:r>
              <a:rPr lang="en-US" sz="950" dirty="0">
                <a:solidFill>
                  <a:srgbClr val="21295C"/>
                </a:solidFill>
                <a:latin typeface="Calibri" pitchFamily="34" charset="0"/>
                <a:ea typeface="Calibri" pitchFamily="34" charset="-122"/>
                <a:cs typeface="Calibri" pitchFamily="34" charset="-120"/>
              </a:rPr>
              <a:t>“Frozen model” means the final model is kept unchanged while performing final evaluation and failure analysis.</a:t>
            </a:r>
            <a:endParaRPr lang="en-US" sz="950" dirty="0"/>
          </a:p>
        </p:txBody>
      </p:sp>
      <p:sp>
        <p:nvSpPr>
          <p:cNvPr id="27" name="Text 25"/>
          <p:cNvSpPr txBox="1"/>
          <p:nvPr/>
        </p:nvSpPr>
        <p:spPr>
          <a:xfrm>
            <a:off x="5440680" y="2788920"/>
            <a:ext cx="3337560" cy="201168"/>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Saved Artifacts</a:t>
            </a:r>
            <a:endParaRPr lang="en-US" sz="1200" dirty="0"/>
          </a:p>
        </p:txBody>
      </p:sp>
      <p:sp>
        <p:nvSpPr>
          <p:cNvPr id="28" name="Shape 26"/>
          <p:cNvSpPr/>
          <p:nvPr/>
        </p:nvSpPr>
        <p:spPr>
          <a:xfrm>
            <a:off x="5440680" y="3044952"/>
            <a:ext cx="3337560" cy="868680"/>
          </a:xfrm>
          <a:prstGeom prst="roundRect">
            <a:avLst>
              <a:gd name="adj" fmla="val 6316"/>
            </a:avLst>
          </a:prstGeom>
          <a:solidFill>
            <a:srgbClr val="F2F8FA"/>
          </a:solidFill>
          <a:ln w="12700">
            <a:solidFill>
              <a:srgbClr val="B9D3DC"/>
            </a:solidFill>
            <a:prstDash val="solid"/>
          </a:ln>
        </p:spPr>
      </p:sp>
      <p:sp>
        <p:nvSpPr>
          <p:cNvPr id="29" name="Text 27"/>
          <p:cNvSpPr txBox="1"/>
          <p:nvPr/>
        </p:nvSpPr>
        <p:spPr>
          <a:xfrm>
            <a:off x="5477256" y="3044952"/>
            <a:ext cx="3264408" cy="868680"/>
          </a:xfrm>
          <a:prstGeom prst="rect">
            <a:avLst/>
          </a:prstGeom>
          <a:noFill/>
          <a:ln/>
        </p:spPr>
        <p:txBody>
          <a:bodyPr wrap="square" lIns="0" tIns="0" rIns="0" bIns="0" rtlCol="0" anchor="ctr"/>
          <a:lstStyle/>
          <a:p>
            <a:pPr algn="l" indent="0" marL="0">
              <a:buNone/>
            </a:pPr>
            <a:r>
              <a:rPr lang="en-US" sz="950" dirty="0">
                <a:solidFill>
                  <a:srgbClr val="1B2B33"/>
                </a:solidFill>
                <a:latin typeface="Calibri" pitchFamily="34" charset="0"/>
                <a:ea typeface="Calibri" pitchFamily="34" charset="-122"/>
                <a:cs typeface="Calibri" pitchFamily="34" charset="-120"/>
              </a:rPr>
              <a:t>• final_unet_model.pth  (final model weights)</a:t>
            </a:r>
            <a:endParaRPr lang="en-US" sz="950" dirty="0"/>
          </a:p>
          <a:p>
            <a:pPr algn="l" indent="0" marL="0">
              <a:buNone/>
            </a:pPr>
            <a:r>
              <a:rPr lang="en-US" sz="950" dirty="0">
                <a:solidFill>
                  <a:srgbClr val="1B2B33"/>
                </a:solidFill>
                <a:latin typeface="Calibri" pitchFamily="34" charset="0"/>
                <a:ea typeface="Calibri" pitchFamily="34" charset="-122"/>
                <a:cs typeface="Calibri" pitchFamily="34" charset="-120"/>
              </a:rPr>
              <a:t>• Final configuration file  (saved separately)</a:t>
            </a:r>
            <a:endParaRPr lang="en-US" sz="950" dirty="0"/>
          </a:p>
          <a:p>
            <a:pPr algn="l" indent="0" marL="0">
              <a:buNone/>
            </a:pPr>
            <a:r>
              <a:rPr lang="en-US" sz="950" dirty="0">
                <a:solidFill>
                  <a:srgbClr val="1B2B33"/>
                </a:solidFill>
                <a:latin typeface="Calibri" pitchFamily="34" charset="0"/>
                <a:ea typeface="Calibri" pitchFamily="34" charset="-122"/>
                <a:cs typeface="Calibri" pitchFamily="34" charset="-120"/>
              </a:rPr>
              <a:t>• Dataset_V1_frozen_split.json  (train / val / test split)</a:t>
            </a:r>
            <a:endParaRPr lang="en-US" sz="950" dirty="0"/>
          </a:p>
        </p:txBody>
      </p:sp>
      <p:sp>
        <p:nvSpPr>
          <p:cNvPr id="30" name="Shape 28"/>
          <p:cNvSpPr/>
          <p:nvPr/>
        </p:nvSpPr>
        <p:spPr>
          <a:xfrm>
            <a:off x="5440680" y="4023360"/>
            <a:ext cx="3337560" cy="594360"/>
          </a:xfrm>
          <a:prstGeom prst="roundRect">
            <a:avLst>
              <a:gd name="adj" fmla="val 9231"/>
            </a:avLst>
          </a:prstGeom>
          <a:solidFill>
            <a:srgbClr val="FFFFFF"/>
          </a:solidFill>
          <a:ln w="13970">
            <a:solidFill>
              <a:srgbClr val="1C7293"/>
            </a:solidFill>
            <a:prstDash val="solid"/>
          </a:ln>
        </p:spPr>
      </p:sp>
      <p:sp>
        <p:nvSpPr>
          <p:cNvPr id="31" name="Text 29"/>
          <p:cNvSpPr txBox="1"/>
          <p:nvPr/>
        </p:nvSpPr>
        <p:spPr>
          <a:xfrm>
            <a:off x="5477256" y="4023360"/>
            <a:ext cx="3264408" cy="594360"/>
          </a:xfrm>
          <a:prstGeom prst="rect">
            <a:avLst/>
          </a:prstGeom>
          <a:noFill/>
          <a:ln/>
        </p:spPr>
        <p:txBody>
          <a:bodyPr wrap="square" lIns="0" tIns="0" rIns="0" bIns="0" rtlCol="0" anchor="ctr"/>
          <a:lstStyle/>
          <a:p>
            <a:pPr algn="l" indent="0" marL="0">
              <a:buNone/>
            </a:pPr>
            <a:r>
              <a:rPr lang="en-US" sz="930" dirty="0">
                <a:solidFill>
                  <a:srgbClr val="1B2B33"/>
                </a:solidFill>
                <a:latin typeface="Calibri" pitchFamily="34" charset="0"/>
                <a:ea typeface="Calibri" pitchFamily="34" charset="-122"/>
                <a:cs typeface="Calibri" pitchFamily="34" charset="-120"/>
              </a:rPr>
              <a:t>Test data must remain unseen during model training to avoid data leakage.</a:t>
            </a:r>
            <a:endParaRPr lang="en-US" sz="930" dirty="0"/>
          </a:p>
          <a:p>
            <a:pPr algn="l" indent="0" marL="0">
              <a:buNone/>
            </a:pPr>
            <a:r>
              <a:rPr lang="en-US" sz="930" dirty="0">
                <a:solidFill>
                  <a:srgbClr val="1B2B33"/>
                </a:solidFill>
                <a:latin typeface="Calibri" pitchFamily="34" charset="0"/>
                <a:ea typeface="Calibri" pitchFamily="34" charset="-122"/>
                <a:cs typeface="Calibri" pitchFamily="34" charset="-120"/>
              </a:rPr>
              <a:t>Term used: “held-out test set”.</a:t>
            </a:r>
            <a:endParaRPr lang="en-US" sz="930" dirty="0"/>
          </a:p>
        </p:txBody>
      </p:sp>
      <p:sp>
        <p:nvSpPr>
          <p:cNvPr id="32" name="Text 30"/>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33" name="Text 31"/>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FINAL TESTING</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600" b="1" dirty="0">
                <a:solidFill>
                  <a:srgbClr val="21295C"/>
                </a:solidFill>
                <a:latin typeface="Cambria" pitchFamily="34" charset="0"/>
                <a:ea typeface="Cambria" pitchFamily="34" charset="-122"/>
                <a:cs typeface="Cambria" pitchFamily="34" charset="-120"/>
              </a:rPr>
              <a:t>Final Test Evaluation and Failure Case Detection</a:t>
            </a:r>
            <a:endParaRPr lang="en-US" sz="2600" dirty="0"/>
          </a:p>
        </p:txBody>
      </p:sp>
      <p:sp>
        <p:nvSpPr>
          <p:cNvPr id="4" name="Shape 2"/>
          <p:cNvSpPr/>
          <p:nvPr/>
        </p:nvSpPr>
        <p:spPr>
          <a:xfrm>
            <a:off x="365760" y="960120"/>
            <a:ext cx="1399032" cy="566928"/>
          </a:xfrm>
          <a:prstGeom prst="roundRect">
            <a:avLst>
              <a:gd name="adj" fmla="val 9677"/>
            </a:avLst>
          </a:prstGeom>
          <a:solidFill>
            <a:srgbClr val="F2F8FA"/>
          </a:solidFill>
          <a:ln w="12700">
            <a:solidFill>
              <a:srgbClr val="B9D3DC"/>
            </a:solidFill>
            <a:prstDash val="solid"/>
          </a:ln>
        </p:spPr>
      </p:sp>
      <p:sp>
        <p:nvSpPr>
          <p:cNvPr id="5" name="Text 3"/>
          <p:cNvSpPr txBox="1"/>
          <p:nvPr/>
        </p:nvSpPr>
        <p:spPr>
          <a:xfrm>
            <a:off x="402336" y="960120"/>
            <a:ext cx="1325880" cy="5669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Held-out</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Test Images</a:t>
            </a:r>
            <a:endParaRPr lang="en-US" sz="860" dirty="0"/>
          </a:p>
        </p:txBody>
      </p:sp>
      <p:sp>
        <p:nvSpPr>
          <p:cNvPr id="6" name="Shape 4"/>
          <p:cNvSpPr/>
          <p:nvPr/>
        </p:nvSpPr>
        <p:spPr>
          <a:xfrm>
            <a:off x="1773936" y="1243584"/>
            <a:ext cx="86868" cy="0"/>
          </a:xfrm>
          <a:prstGeom prst="line">
            <a:avLst/>
          </a:prstGeom>
          <a:noFill/>
          <a:ln w="22225">
            <a:solidFill>
              <a:srgbClr val="1C7293"/>
            </a:solidFill>
            <a:prstDash val="solid"/>
            <a:tailEnd type="triangle"/>
          </a:ln>
        </p:spPr>
      </p:sp>
      <p:sp>
        <p:nvSpPr>
          <p:cNvPr id="7" name="Shape 5"/>
          <p:cNvSpPr/>
          <p:nvPr/>
        </p:nvSpPr>
        <p:spPr>
          <a:xfrm>
            <a:off x="1869948" y="960120"/>
            <a:ext cx="1399032" cy="566928"/>
          </a:xfrm>
          <a:prstGeom prst="roundRect">
            <a:avLst>
              <a:gd name="adj" fmla="val 9677"/>
            </a:avLst>
          </a:prstGeom>
          <a:solidFill>
            <a:srgbClr val="F2F8FA"/>
          </a:solidFill>
          <a:ln w="12700">
            <a:solidFill>
              <a:srgbClr val="B9D3DC"/>
            </a:solidFill>
            <a:prstDash val="solid"/>
          </a:ln>
        </p:spPr>
      </p:sp>
      <p:sp>
        <p:nvSpPr>
          <p:cNvPr id="8" name="Text 6"/>
          <p:cNvSpPr txBox="1"/>
          <p:nvPr/>
        </p:nvSpPr>
        <p:spPr>
          <a:xfrm>
            <a:off x="1906524" y="960120"/>
            <a:ext cx="1325880" cy="5669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Frozen</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U-Net</a:t>
            </a:r>
            <a:endParaRPr lang="en-US" sz="860" dirty="0"/>
          </a:p>
        </p:txBody>
      </p:sp>
      <p:sp>
        <p:nvSpPr>
          <p:cNvPr id="9" name="Shape 7"/>
          <p:cNvSpPr/>
          <p:nvPr/>
        </p:nvSpPr>
        <p:spPr>
          <a:xfrm>
            <a:off x="3278124" y="1243584"/>
            <a:ext cx="86868" cy="0"/>
          </a:xfrm>
          <a:prstGeom prst="line">
            <a:avLst/>
          </a:prstGeom>
          <a:noFill/>
          <a:ln w="22225">
            <a:solidFill>
              <a:srgbClr val="1C7293"/>
            </a:solidFill>
            <a:prstDash val="solid"/>
            <a:tailEnd type="triangle"/>
          </a:ln>
        </p:spPr>
      </p:sp>
      <p:sp>
        <p:nvSpPr>
          <p:cNvPr id="10" name="Shape 8"/>
          <p:cNvSpPr/>
          <p:nvPr/>
        </p:nvSpPr>
        <p:spPr>
          <a:xfrm>
            <a:off x="3374136" y="960120"/>
            <a:ext cx="1399032" cy="566928"/>
          </a:xfrm>
          <a:prstGeom prst="roundRect">
            <a:avLst>
              <a:gd name="adj" fmla="val 9677"/>
            </a:avLst>
          </a:prstGeom>
          <a:solidFill>
            <a:srgbClr val="F2F8FA"/>
          </a:solidFill>
          <a:ln w="12700">
            <a:solidFill>
              <a:srgbClr val="B9D3DC"/>
            </a:solidFill>
            <a:prstDash val="solid"/>
          </a:ln>
        </p:spPr>
      </p:sp>
      <p:sp>
        <p:nvSpPr>
          <p:cNvPr id="11" name="Text 9"/>
          <p:cNvSpPr txBox="1"/>
          <p:nvPr/>
        </p:nvSpPr>
        <p:spPr>
          <a:xfrm>
            <a:off x="3410712" y="960120"/>
            <a:ext cx="1325880" cy="5669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Predicted</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Enhanced Images</a:t>
            </a:r>
            <a:endParaRPr lang="en-US" sz="860" dirty="0"/>
          </a:p>
        </p:txBody>
      </p:sp>
      <p:sp>
        <p:nvSpPr>
          <p:cNvPr id="12" name="Shape 10"/>
          <p:cNvSpPr/>
          <p:nvPr/>
        </p:nvSpPr>
        <p:spPr>
          <a:xfrm>
            <a:off x="365760" y="1673352"/>
            <a:ext cx="1399032" cy="566928"/>
          </a:xfrm>
          <a:prstGeom prst="roundRect">
            <a:avLst>
              <a:gd name="adj" fmla="val 9677"/>
            </a:avLst>
          </a:prstGeom>
          <a:solidFill>
            <a:srgbClr val="F2F8FA"/>
          </a:solidFill>
          <a:ln w="12700">
            <a:solidFill>
              <a:srgbClr val="B9D3DC"/>
            </a:solidFill>
            <a:prstDash val="solid"/>
          </a:ln>
        </p:spPr>
      </p:sp>
      <p:sp>
        <p:nvSpPr>
          <p:cNvPr id="13" name="Text 11"/>
          <p:cNvSpPr txBox="1"/>
          <p:nvPr/>
        </p:nvSpPr>
        <p:spPr>
          <a:xfrm>
            <a:off x="402336" y="1673352"/>
            <a:ext cx="1325880" cy="5669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Compare Prediction</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vs Target</a:t>
            </a:r>
            <a:endParaRPr lang="en-US" sz="860" dirty="0"/>
          </a:p>
        </p:txBody>
      </p:sp>
      <p:sp>
        <p:nvSpPr>
          <p:cNvPr id="14" name="Shape 12"/>
          <p:cNvSpPr/>
          <p:nvPr/>
        </p:nvSpPr>
        <p:spPr>
          <a:xfrm>
            <a:off x="1773936" y="1956816"/>
            <a:ext cx="86868" cy="0"/>
          </a:xfrm>
          <a:prstGeom prst="line">
            <a:avLst/>
          </a:prstGeom>
          <a:noFill/>
          <a:ln w="22225">
            <a:solidFill>
              <a:srgbClr val="1C7293"/>
            </a:solidFill>
            <a:prstDash val="solid"/>
            <a:tailEnd type="triangle"/>
          </a:ln>
        </p:spPr>
      </p:sp>
      <p:sp>
        <p:nvSpPr>
          <p:cNvPr id="15" name="Shape 13"/>
          <p:cNvSpPr/>
          <p:nvPr/>
        </p:nvSpPr>
        <p:spPr>
          <a:xfrm>
            <a:off x="1869948" y="1673352"/>
            <a:ext cx="1399032" cy="566928"/>
          </a:xfrm>
          <a:prstGeom prst="roundRect">
            <a:avLst>
              <a:gd name="adj" fmla="val 9677"/>
            </a:avLst>
          </a:prstGeom>
          <a:solidFill>
            <a:srgbClr val="F2F8FA"/>
          </a:solidFill>
          <a:ln w="12700">
            <a:solidFill>
              <a:srgbClr val="B9D3DC"/>
            </a:solidFill>
            <a:prstDash val="solid"/>
          </a:ln>
        </p:spPr>
      </p:sp>
      <p:sp>
        <p:nvSpPr>
          <p:cNvPr id="16" name="Text 14"/>
          <p:cNvSpPr txBox="1"/>
          <p:nvPr/>
        </p:nvSpPr>
        <p:spPr>
          <a:xfrm>
            <a:off x="1906524" y="1673352"/>
            <a:ext cx="1325880" cy="5669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Calculate Image-level</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L1 Error</a:t>
            </a:r>
            <a:endParaRPr lang="en-US" sz="860" dirty="0"/>
          </a:p>
        </p:txBody>
      </p:sp>
      <p:sp>
        <p:nvSpPr>
          <p:cNvPr id="17" name="Shape 15"/>
          <p:cNvSpPr/>
          <p:nvPr/>
        </p:nvSpPr>
        <p:spPr>
          <a:xfrm>
            <a:off x="3278124" y="1956816"/>
            <a:ext cx="86868" cy="0"/>
          </a:xfrm>
          <a:prstGeom prst="line">
            <a:avLst/>
          </a:prstGeom>
          <a:noFill/>
          <a:ln w="22225">
            <a:solidFill>
              <a:srgbClr val="1C7293"/>
            </a:solidFill>
            <a:prstDash val="solid"/>
            <a:tailEnd type="triangle"/>
          </a:ln>
        </p:spPr>
      </p:sp>
      <p:sp>
        <p:nvSpPr>
          <p:cNvPr id="18" name="Shape 16"/>
          <p:cNvSpPr/>
          <p:nvPr/>
        </p:nvSpPr>
        <p:spPr>
          <a:xfrm>
            <a:off x="3374136" y="1673352"/>
            <a:ext cx="1399032" cy="566928"/>
          </a:xfrm>
          <a:prstGeom prst="roundRect">
            <a:avLst>
              <a:gd name="adj" fmla="val 9677"/>
            </a:avLst>
          </a:prstGeom>
          <a:solidFill>
            <a:srgbClr val="DCEBF1"/>
          </a:solidFill>
          <a:ln w="17780">
            <a:solidFill>
              <a:srgbClr val="065A82"/>
            </a:solidFill>
            <a:prstDash val="solid"/>
          </a:ln>
        </p:spPr>
      </p:sp>
      <p:sp>
        <p:nvSpPr>
          <p:cNvPr id="19" name="Text 17"/>
          <p:cNvSpPr txBox="1"/>
          <p:nvPr/>
        </p:nvSpPr>
        <p:spPr>
          <a:xfrm>
            <a:off x="3410712" y="1673352"/>
            <a:ext cx="1325880" cy="566928"/>
          </a:xfrm>
          <a:prstGeom prst="rect">
            <a:avLst/>
          </a:prstGeom>
          <a:noFill/>
          <a:ln/>
        </p:spPr>
        <p:txBody>
          <a:bodyPr wrap="square" lIns="0" tIns="0" rIns="0" bIns="0" rtlCol="0" anchor="ctr"/>
          <a:lstStyle/>
          <a:p>
            <a:pPr algn="ctr" indent="0" marL="0">
              <a:buNone/>
            </a:pPr>
            <a:r>
              <a:rPr lang="en-US" sz="860" b="1" dirty="0">
                <a:solidFill>
                  <a:srgbClr val="21295C"/>
                </a:solidFill>
                <a:latin typeface="Calibri" pitchFamily="34" charset="0"/>
                <a:ea typeface="Calibri" pitchFamily="34" charset="-122"/>
                <a:cs typeface="Calibri" pitchFamily="34" charset="-120"/>
              </a:rPr>
              <a:t>Identify</a:t>
            </a:r>
            <a:endParaRPr lang="en-US" sz="860" dirty="0"/>
          </a:p>
          <a:p>
            <a:pPr algn="ctr" indent="0" marL="0">
              <a:buNone/>
            </a:pPr>
            <a:r>
              <a:rPr lang="en-US" sz="860" b="1" dirty="0">
                <a:solidFill>
                  <a:srgbClr val="21295C"/>
                </a:solidFill>
                <a:latin typeface="Calibri" pitchFamily="34" charset="0"/>
                <a:ea typeface="Calibri" pitchFamily="34" charset="-122"/>
                <a:cs typeface="Calibri" pitchFamily="34" charset="-120"/>
              </a:rPr>
              <a:t>Difficult Cases</a:t>
            </a:r>
            <a:endParaRPr lang="en-US" sz="860" dirty="0"/>
          </a:p>
        </p:txBody>
      </p:sp>
      <p:sp>
        <p:nvSpPr>
          <p:cNvPr id="20" name="Shape 18"/>
          <p:cNvSpPr/>
          <p:nvPr/>
        </p:nvSpPr>
        <p:spPr>
          <a:xfrm>
            <a:off x="1065276" y="1545336"/>
            <a:ext cx="0" cy="109728"/>
          </a:xfrm>
          <a:prstGeom prst="line">
            <a:avLst/>
          </a:prstGeom>
          <a:noFill/>
          <a:ln w="22225">
            <a:solidFill>
              <a:srgbClr val="1C7293"/>
            </a:solidFill>
            <a:prstDash val="solid"/>
            <a:tailEnd type="triangle"/>
          </a:ln>
        </p:spPr>
      </p:sp>
      <p:sp>
        <p:nvSpPr>
          <p:cNvPr id="21" name="Shape 19"/>
          <p:cNvSpPr/>
          <p:nvPr/>
        </p:nvSpPr>
        <p:spPr>
          <a:xfrm>
            <a:off x="4800600" y="960120"/>
            <a:ext cx="3977640" cy="914400"/>
          </a:xfrm>
          <a:prstGeom prst="roundRect">
            <a:avLst>
              <a:gd name="adj" fmla="val 6000"/>
            </a:avLst>
          </a:prstGeom>
          <a:solidFill>
            <a:srgbClr val="DCEBF1"/>
          </a:solidFill>
          <a:ln w="16510">
            <a:solidFill>
              <a:srgbClr val="065A82"/>
            </a:solidFill>
            <a:prstDash val="solid"/>
          </a:ln>
        </p:spPr>
      </p:sp>
      <p:sp>
        <p:nvSpPr>
          <p:cNvPr id="22" name="Text 20"/>
          <p:cNvSpPr txBox="1"/>
          <p:nvPr/>
        </p:nvSpPr>
        <p:spPr>
          <a:xfrm>
            <a:off x="4837176" y="960120"/>
            <a:ext cx="3904488" cy="914400"/>
          </a:xfrm>
          <a:prstGeom prst="rect">
            <a:avLst/>
          </a:prstGeom>
          <a:noFill/>
          <a:ln/>
        </p:spPr>
        <p:txBody>
          <a:bodyPr wrap="square" lIns="0" tIns="0" rIns="0" bIns="0" rtlCol="0" anchor="ctr"/>
          <a:lstStyle/>
          <a:p>
            <a:pPr algn="l" indent="0" marL="0">
              <a:buNone/>
            </a:pPr>
            <a:r>
              <a:rPr lang="en-US" sz="1000" dirty="0">
                <a:solidFill>
                  <a:srgbClr val="21295C"/>
                </a:solidFill>
                <a:latin typeface="Calibri" pitchFamily="34" charset="0"/>
                <a:ea typeface="Calibri" pitchFamily="34" charset="-122"/>
                <a:cs typeface="Calibri" pitchFamily="34" charset="-120"/>
              </a:rPr>
              <a:t>L1 Error (formula):</a:t>
            </a:r>
            <a:endParaRPr lang="en-US" sz="1000" dirty="0"/>
          </a:p>
          <a:p>
            <a:pPr algn="l" indent="0" marL="0">
              <a:buNone/>
            </a:pPr>
            <a:r>
              <a:rPr lang="en-US" sz="1000" dirty="0">
                <a:solidFill>
                  <a:srgbClr val="21295C"/>
                </a:solidFill>
                <a:latin typeface="Calibri" pitchFamily="34" charset="0"/>
                <a:ea typeface="Calibri" pitchFamily="34" charset="-122"/>
                <a:cs typeface="Calibri" pitchFamily="34" charset="-120"/>
              </a:rPr>
              <a:t>L1 = mean( | Prediction − Target | )</a:t>
            </a:r>
            <a:endParaRPr lang="en-US" sz="1000" dirty="0"/>
          </a:p>
          <a:p>
            <a:pPr algn="l" indent="0" marL="0">
              <a:buNone/>
            </a:pPr>
            <a:endParaRPr lang="en-US" sz="1000" dirty="0"/>
          </a:p>
          <a:p>
            <a:pPr algn="l" indent="0" marL="0">
              <a:buNone/>
            </a:pPr>
            <a:r>
              <a:rPr lang="en-US" sz="1000" dirty="0">
                <a:solidFill>
                  <a:srgbClr val="21295C"/>
                </a:solidFill>
                <a:latin typeface="Calibri" pitchFamily="34" charset="0"/>
                <a:ea typeface="Calibri" pitchFamily="34" charset="-122"/>
                <a:cs typeface="Calibri" pitchFamily="34" charset="-120"/>
              </a:rPr>
              <a:t>“L1 error measures the average absolute difference between the predicted image and the target image.”</a:t>
            </a:r>
            <a:endParaRPr lang="en-US" sz="1000" dirty="0"/>
          </a:p>
        </p:txBody>
      </p:sp>
      <p:sp>
        <p:nvSpPr>
          <p:cNvPr id="23" name="Text 21"/>
          <p:cNvSpPr txBox="1"/>
          <p:nvPr/>
        </p:nvSpPr>
        <p:spPr>
          <a:xfrm>
            <a:off x="365760" y="2331720"/>
            <a:ext cx="4206240" cy="219456"/>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Evaluation Process Details</a:t>
            </a:r>
            <a:endParaRPr lang="en-US" sz="1250" dirty="0"/>
          </a:p>
        </p:txBody>
      </p:sp>
      <p:sp>
        <p:nvSpPr>
          <p:cNvPr id="24" name="Text 22"/>
          <p:cNvSpPr txBox="1"/>
          <p:nvPr/>
        </p:nvSpPr>
        <p:spPr>
          <a:xfrm>
            <a:off x="365760" y="2606040"/>
            <a:ext cx="4206240" cy="1737360"/>
          </a:xfrm>
          <a:prstGeom prst="rect">
            <a:avLst/>
          </a:prstGeom>
          <a:noFill/>
          <a:ln/>
        </p:spPr>
        <p:txBody>
          <a:bodyPr wrap="square" lIns="0" tIns="0" rIns="0" bIns="0" rtlCol="0" anchor="t"/>
          <a:lstStyle/>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Predictions are generated using torch.no_grad().</a:t>
            </a:r>
            <a:endParaRPr lang="en-US" sz="1030" dirty="0"/>
          </a:p>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The model is set to evaluation mode using model.eval().</a:t>
            </a:r>
            <a:endParaRPr lang="en-US" sz="1030" dirty="0"/>
          </a:p>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Input, prediction, and target images are stored for analysis.</a:t>
            </a:r>
            <a:endParaRPr lang="en-US" sz="1030" dirty="0"/>
          </a:p>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Each test image receives an error value.</a:t>
            </a:r>
            <a:endParaRPr lang="en-US" sz="1030" dirty="0"/>
          </a:p>
        </p:txBody>
      </p:sp>
      <p:sp>
        <p:nvSpPr>
          <p:cNvPr id="25" name="Text 23"/>
          <p:cNvSpPr txBox="1"/>
          <p:nvPr/>
        </p:nvSpPr>
        <p:spPr>
          <a:xfrm>
            <a:off x="4800600" y="2331720"/>
            <a:ext cx="3977640" cy="219456"/>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Selecting Difficult Cases</a:t>
            </a:r>
            <a:endParaRPr lang="en-US" sz="1250" dirty="0"/>
          </a:p>
        </p:txBody>
      </p:sp>
      <p:sp>
        <p:nvSpPr>
          <p:cNvPr id="26" name="Text 24"/>
          <p:cNvSpPr txBox="1"/>
          <p:nvPr/>
        </p:nvSpPr>
        <p:spPr>
          <a:xfrm>
            <a:off x="4800600" y="2606040"/>
            <a:ext cx="3977640" cy="1280160"/>
          </a:xfrm>
          <a:prstGeom prst="rect">
            <a:avLst/>
          </a:prstGeom>
          <a:noFill/>
          <a:ln/>
        </p:spPr>
        <p:txBody>
          <a:bodyPr wrap="square" lIns="0" tIns="0" rIns="0" bIns="0" rtlCol="0" anchor="t"/>
          <a:lstStyle/>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The highest-error images are selected as failure cases.</a:t>
            </a:r>
            <a:endParaRPr lang="en-US" sz="1030" dirty="0"/>
          </a:p>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Top 10 difficult test cases are identified.</a:t>
            </a:r>
            <a:endParaRPr lang="en-US" sz="1030" dirty="0"/>
          </a:p>
          <a:p>
            <a:pPr algn="l" marL="177800" indent="-177800">
              <a:spcAft>
                <a:spcPts val="800"/>
              </a:spcAft>
              <a:buSzPct val="100000"/>
              <a:buChar char="✦"/>
            </a:pPr>
            <a:r>
              <a:rPr lang="en-US" sz="1030" dirty="0">
                <a:solidFill>
                  <a:srgbClr val="1B2B33"/>
                </a:solidFill>
                <a:latin typeface="Calibri" pitchFamily="34" charset="0"/>
                <a:ea typeface="Calibri" pitchFamily="34" charset="-122"/>
                <a:cs typeface="Calibri" pitchFamily="34" charset="-120"/>
              </a:rPr>
              <a:t>Top 5 cases are visualized as Input / Prediction / Target.</a:t>
            </a:r>
            <a:endParaRPr lang="en-US" sz="1030" dirty="0"/>
          </a:p>
        </p:txBody>
      </p:sp>
      <p:sp>
        <p:nvSpPr>
          <p:cNvPr id="27" name="Shape 25"/>
          <p:cNvSpPr/>
          <p:nvPr/>
        </p:nvSpPr>
        <p:spPr>
          <a:xfrm>
            <a:off x="365760" y="4434840"/>
            <a:ext cx="8412480" cy="438912"/>
          </a:xfrm>
          <a:prstGeom prst="roundRect">
            <a:avLst>
              <a:gd name="adj" fmla="val 12500"/>
            </a:avLst>
          </a:prstGeom>
          <a:solidFill>
            <a:srgbClr val="F2F8FA"/>
          </a:solidFill>
          <a:ln w="12700">
            <a:solidFill>
              <a:srgbClr val="B9D3DC"/>
            </a:solidFill>
            <a:prstDash val="solid"/>
          </a:ln>
        </p:spPr>
      </p:sp>
      <p:sp>
        <p:nvSpPr>
          <p:cNvPr id="28" name="Text 26"/>
          <p:cNvSpPr txBox="1"/>
          <p:nvPr/>
        </p:nvSpPr>
        <p:spPr>
          <a:xfrm>
            <a:off x="402336" y="4434840"/>
            <a:ext cx="8339328" cy="438912"/>
          </a:xfrm>
          <a:prstGeom prst="rect">
            <a:avLst/>
          </a:prstGeom>
          <a:noFill/>
          <a:ln/>
        </p:spPr>
        <p:txBody>
          <a:bodyPr wrap="square" lIns="0" tIns="0" rIns="0" bIns="0" rtlCol="0" anchor="ctr"/>
          <a:lstStyle/>
          <a:p>
            <a:pPr algn="l" indent="0" marL="0">
              <a:buNone/>
            </a:pPr>
            <a:r>
              <a:rPr lang="en-US" sz="1050" b="1" dirty="0">
                <a:solidFill>
                  <a:srgbClr val="1B2B33"/>
                </a:solidFill>
                <a:latin typeface="Calibri" pitchFamily="34" charset="0"/>
                <a:ea typeface="Calibri" pitchFamily="34" charset="-122"/>
                <a:cs typeface="Calibri" pitchFamily="34" charset="-120"/>
              </a:rPr>
              <a:t>Higher L1 error indicates a larger difference between prediction and target.</a:t>
            </a:r>
            <a:endParaRPr lang="en-US" sz="1050" dirty="0"/>
          </a:p>
        </p:txBody>
      </p:sp>
      <p:sp>
        <p:nvSpPr>
          <p:cNvPr id="29" name="Text 27"/>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30" name="Text 28"/>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FAILURE ANALYSIS</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600" b="1" dirty="0">
                <a:solidFill>
                  <a:srgbClr val="21295C"/>
                </a:solidFill>
                <a:latin typeface="Cambria" pitchFamily="34" charset="0"/>
                <a:ea typeface="Cambria" pitchFamily="34" charset="-122"/>
                <a:cs typeface="Cambria" pitchFamily="34" charset="-120"/>
              </a:rPr>
              <a:t>Failure Analysis: Color and Structural Errors</a:t>
            </a:r>
            <a:endParaRPr lang="en-US" sz="2600" dirty="0"/>
          </a:p>
        </p:txBody>
      </p:sp>
      <p:sp>
        <p:nvSpPr>
          <p:cNvPr id="4" name="Shape 2"/>
          <p:cNvSpPr/>
          <p:nvPr/>
        </p:nvSpPr>
        <p:spPr>
          <a:xfrm>
            <a:off x="384048" y="914400"/>
            <a:ext cx="365760" cy="365760"/>
          </a:xfrm>
          <a:prstGeom prst="ellipse">
            <a:avLst/>
          </a:prstGeom>
          <a:solidFill>
            <a:srgbClr val="065A82"/>
          </a:solidFill>
          <a:ln/>
        </p:spPr>
      </p:sp>
      <p:sp>
        <p:nvSpPr>
          <p:cNvPr id="5" name="Text 3"/>
          <p:cNvSpPr txBox="1"/>
          <p:nvPr/>
        </p:nvSpPr>
        <p:spPr>
          <a:xfrm>
            <a:off x="384048" y="91440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a:t>
            </a:r>
            <a:endParaRPr lang="en-US" sz="1000" dirty="0"/>
          </a:p>
        </p:txBody>
      </p:sp>
      <p:sp>
        <p:nvSpPr>
          <p:cNvPr id="6" name="Text 4"/>
          <p:cNvSpPr txBox="1"/>
          <p:nvPr/>
        </p:nvSpPr>
        <p:spPr>
          <a:xfrm>
            <a:off x="822960" y="914400"/>
            <a:ext cx="3657600"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RGB Channel Analysis</a:t>
            </a:r>
            <a:endParaRPr lang="en-US" sz="1300" dirty="0"/>
          </a:p>
        </p:txBody>
      </p:sp>
      <p:sp>
        <p:nvSpPr>
          <p:cNvPr id="7" name="Shape 5"/>
          <p:cNvSpPr/>
          <p:nvPr/>
        </p:nvSpPr>
        <p:spPr>
          <a:xfrm>
            <a:off x="365760" y="1371600"/>
            <a:ext cx="4114800" cy="1417320"/>
          </a:xfrm>
          <a:prstGeom prst="roundRect">
            <a:avLst>
              <a:gd name="adj" fmla="val 3871"/>
            </a:avLst>
          </a:prstGeom>
          <a:solidFill>
            <a:srgbClr val="F2F8FA"/>
          </a:solidFill>
          <a:ln w="12700">
            <a:solidFill>
              <a:srgbClr val="B9D3DC"/>
            </a:solidFill>
            <a:prstDash val="solid"/>
          </a:ln>
        </p:spPr>
      </p:sp>
      <p:sp>
        <p:nvSpPr>
          <p:cNvPr id="8" name="Text 6"/>
          <p:cNvSpPr txBox="1"/>
          <p:nvPr/>
        </p:nvSpPr>
        <p:spPr>
          <a:xfrm>
            <a:off x="402336" y="1371600"/>
            <a:ext cx="4041648" cy="1417320"/>
          </a:xfrm>
          <a:prstGeom prst="rect">
            <a:avLst/>
          </a:prstGeom>
          <a:noFill/>
          <a:ln/>
        </p:spPr>
        <p:txBody>
          <a:bodyPr wrap="square" lIns="0" tIns="0" rIns="0" bIns="0" rtlCol="0" anchor="t"/>
          <a:lstStyle/>
          <a:p>
            <a:pPr algn="l" indent="0" marL="0">
              <a:buNone/>
            </a:pPr>
            <a:r>
              <a:rPr lang="en-US" sz="1030" dirty="0">
                <a:solidFill>
                  <a:srgbClr val="1B2B33"/>
                </a:solidFill>
                <a:latin typeface="Calibri" pitchFamily="34" charset="0"/>
                <a:ea typeface="Calibri" pitchFamily="34" charset="-122"/>
                <a:cs typeface="Calibri" pitchFamily="34" charset="-120"/>
              </a:rPr>
              <a:t>For every test image:</a:t>
            </a: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 Calculate error separately for Red, Green and Blue channels.</a:t>
            </a: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 Compute mean channel error across the test set.</a:t>
            </a: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 Visualize the errors using an RGB channel error graph.</a:t>
            </a:r>
            <a:endParaRPr lang="en-US" sz="1030" dirty="0"/>
          </a:p>
        </p:txBody>
      </p:sp>
      <p:sp>
        <p:nvSpPr>
          <p:cNvPr id="9" name="Shape 7"/>
          <p:cNvSpPr/>
          <p:nvPr/>
        </p:nvSpPr>
        <p:spPr>
          <a:xfrm>
            <a:off x="365760" y="2880360"/>
            <a:ext cx="4114800" cy="777240"/>
          </a:xfrm>
          <a:prstGeom prst="roundRect">
            <a:avLst>
              <a:gd name="adj" fmla="val 7059"/>
            </a:avLst>
          </a:prstGeom>
          <a:solidFill>
            <a:srgbClr val="FFFFFF"/>
          </a:solidFill>
          <a:ln w="12700">
            <a:solidFill>
              <a:srgbClr val="1C7293"/>
            </a:solidFill>
            <a:prstDash val="solid"/>
          </a:ln>
        </p:spPr>
      </p:sp>
      <p:sp>
        <p:nvSpPr>
          <p:cNvPr id="10" name="Text 8"/>
          <p:cNvSpPr txBox="1"/>
          <p:nvPr/>
        </p:nvSpPr>
        <p:spPr>
          <a:xfrm>
            <a:off x="402336" y="2880360"/>
            <a:ext cx="4041648" cy="777240"/>
          </a:xfrm>
          <a:prstGeom prst="rect">
            <a:avLst/>
          </a:prstGeom>
          <a:noFill/>
          <a:ln/>
        </p:spPr>
        <p:txBody>
          <a:bodyPr wrap="square" lIns="0" tIns="0" rIns="0" bIns="0" rtlCol="0" anchor="ctr"/>
          <a:lstStyle/>
          <a:p>
            <a:pPr algn="l" indent="0" marL="0">
              <a:buNone/>
            </a:pPr>
            <a:r>
              <a:rPr lang="en-US" sz="1000" i="1" dirty="0">
                <a:solidFill>
                  <a:srgbClr val="1B2B33"/>
                </a:solidFill>
                <a:latin typeface="Calibri" pitchFamily="34" charset="0"/>
                <a:ea typeface="Calibri" pitchFamily="34" charset="-122"/>
                <a:cs typeface="Calibri" pitchFamily="34" charset="-120"/>
              </a:rPr>
              <a:t>This helps identify whether the model has larger errors in a particular color channel.</a:t>
            </a:r>
            <a:endParaRPr lang="en-US" sz="1000" dirty="0"/>
          </a:p>
        </p:txBody>
      </p:sp>
      <p:sp>
        <p:nvSpPr>
          <p:cNvPr id="11" name="Shape 9"/>
          <p:cNvSpPr/>
          <p:nvPr/>
        </p:nvSpPr>
        <p:spPr>
          <a:xfrm>
            <a:off x="365760" y="3794760"/>
            <a:ext cx="4114800" cy="777240"/>
          </a:xfrm>
          <a:prstGeom prst="rect">
            <a:avLst/>
          </a:prstGeom>
          <a:solidFill>
            <a:srgbClr val="FFFFFF"/>
          </a:solidFill>
          <a:ln w="12700">
            <a:solidFill>
              <a:srgbClr val="B9D3DC"/>
            </a:solidFill>
            <a:prstDash val="solid"/>
          </a:ln>
        </p:spPr>
      </p:sp>
      <p:sp>
        <p:nvSpPr>
          <p:cNvPr id="12" name="Shape 10"/>
          <p:cNvSpPr/>
          <p:nvPr/>
        </p:nvSpPr>
        <p:spPr>
          <a:xfrm>
            <a:off x="685800" y="3904488"/>
            <a:ext cx="502920" cy="393192"/>
          </a:xfrm>
          <a:prstGeom prst="rect">
            <a:avLst/>
          </a:prstGeom>
          <a:solidFill>
            <a:srgbClr val="E7F1F4"/>
          </a:solidFill>
          <a:ln w="15875">
            <a:solidFill>
              <a:srgbClr val="C0392B"/>
            </a:solidFill>
            <a:prstDash val="solid"/>
          </a:ln>
        </p:spPr>
      </p:sp>
      <p:sp>
        <p:nvSpPr>
          <p:cNvPr id="13" name="Text 11"/>
          <p:cNvSpPr txBox="1"/>
          <p:nvPr/>
        </p:nvSpPr>
        <p:spPr>
          <a:xfrm>
            <a:off x="457200" y="4315968"/>
            <a:ext cx="960120" cy="182880"/>
          </a:xfrm>
          <a:prstGeom prst="rect">
            <a:avLst/>
          </a:prstGeom>
          <a:noFill/>
          <a:ln/>
        </p:spPr>
        <p:txBody>
          <a:bodyPr wrap="square" lIns="0" tIns="0" rIns="0" bIns="0" rtlCol="0" anchor="ctr"/>
          <a:lstStyle/>
          <a:p>
            <a:pPr algn="ctr" indent="0" marL="0">
              <a:buNone/>
            </a:pPr>
            <a:r>
              <a:rPr lang="en-US" sz="850" dirty="0">
                <a:solidFill>
                  <a:srgbClr val="5A6B72"/>
                </a:solidFill>
                <a:latin typeface="Calibri" pitchFamily="34" charset="0"/>
                <a:ea typeface="Calibri" pitchFamily="34" charset="-122"/>
                <a:cs typeface="Calibri" pitchFamily="34" charset="-120"/>
              </a:rPr>
              <a:t>R channel</a:t>
            </a:r>
            <a:endParaRPr lang="en-US" sz="850" dirty="0"/>
          </a:p>
        </p:txBody>
      </p:sp>
      <p:sp>
        <p:nvSpPr>
          <p:cNvPr id="14" name="Shape 12"/>
          <p:cNvSpPr/>
          <p:nvPr/>
        </p:nvSpPr>
        <p:spPr>
          <a:xfrm>
            <a:off x="1965960" y="3904488"/>
            <a:ext cx="502920" cy="393192"/>
          </a:xfrm>
          <a:prstGeom prst="rect">
            <a:avLst/>
          </a:prstGeom>
          <a:solidFill>
            <a:srgbClr val="E7F1F4"/>
          </a:solidFill>
          <a:ln w="15875">
            <a:solidFill>
              <a:srgbClr val="1E7A34"/>
            </a:solidFill>
            <a:prstDash val="solid"/>
          </a:ln>
        </p:spPr>
      </p:sp>
      <p:sp>
        <p:nvSpPr>
          <p:cNvPr id="15" name="Text 13"/>
          <p:cNvSpPr txBox="1"/>
          <p:nvPr/>
        </p:nvSpPr>
        <p:spPr>
          <a:xfrm>
            <a:off x="1737360" y="4315968"/>
            <a:ext cx="960120" cy="182880"/>
          </a:xfrm>
          <a:prstGeom prst="rect">
            <a:avLst/>
          </a:prstGeom>
          <a:noFill/>
          <a:ln/>
        </p:spPr>
        <p:txBody>
          <a:bodyPr wrap="square" lIns="0" tIns="0" rIns="0" bIns="0" rtlCol="0" anchor="ctr"/>
          <a:lstStyle/>
          <a:p>
            <a:pPr algn="ctr" indent="0" marL="0">
              <a:buNone/>
            </a:pPr>
            <a:r>
              <a:rPr lang="en-US" sz="850" dirty="0">
                <a:solidFill>
                  <a:srgbClr val="5A6B72"/>
                </a:solidFill>
                <a:latin typeface="Calibri" pitchFamily="34" charset="0"/>
                <a:ea typeface="Calibri" pitchFamily="34" charset="-122"/>
                <a:cs typeface="Calibri" pitchFamily="34" charset="-120"/>
              </a:rPr>
              <a:t>G channel</a:t>
            </a:r>
            <a:endParaRPr lang="en-US" sz="850" dirty="0"/>
          </a:p>
        </p:txBody>
      </p:sp>
      <p:sp>
        <p:nvSpPr>
          <p:cNvPr id="16" name="Shape 14"/>
          <p:cNvSpPr/>
          <p:nvPr/>
        </p:nvSpPr>
        <p:spPr>
          <a:xfrm>
            <a:off x="3246120" y="3904488"/>
            <a:ext cx="502920" cy="393192"/>
          </a:xfrm>
          <a:prstGeom prst="rect">
            <a:avLst/>
          </a:prstGeom>
          <a:solidFill>
            <a:srgbClr val="E7F1F4"/>
          </a:solidFill>
          <a:ln w="15875">
            <a:solidFill>
              <a:srgbClr val="1C5FA8"/>
            </a:solidFill>
            <a:prstDash val="solid"/>
          </a:ln>
        </p:spPr>
      </p:sp>
      <p:sp>
        <p:nvSpPr>
          <p:cNvPr id="17" name="Text 15"/>
          <p:cNvSpPr txBox="1"/>
          <p:nvPr/>
        </p:nvSpPr>
        <p:spPr>
          <a:xfrm>
            <a:off x="3017520" y="4315968"/>
            <a:ext cx="960120" cy="182880"/>
          </a:xfrm>
          <a:prstGeom prst="rect">
            <a:avLst/>
          </a:prstGeom>
          <a:noFill/>
          <a:ln/>
        </p:spPr>
        <p:txBody>
          <a:bodyPr wrap="square" lIns="0" tIns="0" rIns="0" bIns="0" rtlCol="0" anchor="ctr"/>
          <a:lstStyle/>
          <a:p>
            <a:pPr algn="ctr" indent="0" marL="0">
              <a:buNone/>
            </a:pPr>
            <a:r>
              <a:rPr lang="en-US" sz="850" dirty="0">
                <a:solidFill>
                  <a:srgbClr val="5A6B72"/>
                </a:solidFill>
                <a:latin typeface="Calibri" pitchFamily="34" charset="0"/>
                <a:ea typeface="Calibri" pitchFamily="34" charset="-122"/>
                <a:cs typeface="Calibri" pitchFamily="34" charset="-120"/>
              </a:rPr>
              <a:t>B channel</a:t>
            </a:r>
            <a:endParaRPr lang="en-US" sz="850" dirty="0"/>
          </a:p>
        </p:txBody>
      </p:sp>
      <p:sp>
        <p:nvSpPr>
          <p:cNvPr id="18" name="Text 16"/>
          <p:cNvSpPr txBox="1"/>
          <p:nvPr/>
        </p:nvSpPr>
        <p:spPr>
          <a:xfrm>
            <a:off x="365760" y="3776472"/>
            <a:ext cx="4114800" cy="146304"/>
          </a:xfrm>
          <a:prstGeom prst="rect">
            <a:avLst/>
          </a:prstGeom>
          <a:noFill/>
          <a:ln/>
        </p:spPr>
        <p:txBody>
          <a:bodyPr wrap="square" lIns="0" tIns="0" rIns="0" bIns="0" rtlCol="0" anchor="ctr"/>
          <a:lstStyle/>
          <a:p>
            <a:pPr algn="l" indent="0" marL="0">
              <a:buNone/>
            </a:pPr>
            <a:r>
              <a:rPr lang="en-US" sz="800" i="1" dirty="0">
                <a:solidFill>
                  <a:srgbClr val="5A6B72"/>
                </a:solidFill>
                <a:latin typeface="Calibri" pitchFamily="34" charset="0"/>
                <a:ea typeface="Calibri" pitchFamily="34" charset="-122"/>
                <a:cs typeface="Calibri" pitchFamily="34" charset="-120"/>
              </a:rPr>
              <a:t>Per-channel Mean Absolute Error — conceptual view</a:t>
            </a:r>
            <a:endParaRPr lang="en-US" sz="800" dirty="0"/>
          </a:p>
        </p:txBody>
      </p:sp>
      <p:sp>
        <p:nvSpPr>
          <p:cNvPr id="19" name="Shape 17"/>
          <p:cNvSpPr/>
          <p:nvPr/>
        </p:nvSpPr>
        <p:spPr>
          <a:xfrm>
            <a:off x="4681728" y="914400"/>
            <a:ext cx="365760" cy="365760"/>
          </a:xfrm>
          <a:prstGeom prst="ellipse">
            <a:avLst/>
          </a:prstGeom>
          <a:solidFill>
            <a:srgbClr val="1C7293"/>
          </a:solidFill>
          <a:ln/>
        </p:spPr>
      </p:sp>
      <p:sp>
        <p:nvSpPr>
          <p:cNvPr id="20" name="Text 18"/>
          <p:cNvSpPr txBox="1"/>
          <p:nvPr/>
        </p:nvSpPr>
        <p:spPr>
          <a:xfrm>
            <a:off x="4681728" y="91440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1" name="Text 19"/>
          <p:cNvSpPr txBox="1"/>
          <p:nvPr/>
        </p:nvSpPr>
        <p:spPr>
          <a:xfrm>
            <a:off x="5120640" y="914400"/>
            <a:ext cx="3657600" cy="36576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Structural / Gradient Analysis</a:t>
            </a:r>
            <a:endParaRPr lang="en-US" sz="1300" dirty="0"/>
          </a:p>
        </p:txBody>
      </p:sp>
      <p:sp>
        <p:nvSpPr>
          <p:cNvPr id="22" name="Shape 20"/>
          <p:cNvSpPr/>
          <p:nvPr/>
        </p:nvSpPr>
        <p:spPr>
          <a:xfrm>
            <a:off x="4663440" y="1371600"/>
            <a:ext cx="4114800" cy="1417320"/>
          </a:xfrm>
          <a:prstGeom prst="roundRect">
            <a:avLst>
              <a:gd name="adj" fmla="val 3871"/>
            </a:avLst>
          </a:prstGeom>
          <a:solidFill>
            <a:srgbClr val="F2F8FA"/>
          </a:solidFill>
          <a:ln w="12700">
            <a:solidFill>
              <a:srgbClr val="B9D3DC"/>
            </a:solidFill>
            <a:prstDash val="solid"/>
          </a:ln>
        </p:spPr>
      </p:sp>
      <p:sp>
        <p:nvSpPr>
          <p:cNvPr id="23" name="Text 21"/>
          <p:cNvSpPr txBox="1"/>
          <p:nvPr/>
        </p:nvSpPr>
        <p:spPr>
          <a:xfrm>
            <a:off x="4700016" y="1371600"/>
            <a:ext cx="4041648" cy="1417320"/>
          </a:xfrm>
          <a:prstGeom prst="rect">
            <a:avLst/>
          </a:prstGeom>
          <a:noFill/>
          <a:ln/>
        </p:spPr>
        <p:txBody>
          <a:bodyPr wrap="square" lIns="0" tIns="0" rIns="0" bIns="0" rtlCol="0" anchor="t"/>
          <a:lstStyle/>
          <a:p>
            <a:pPr algn="l" indent="0" marL="0">
              <a:buNone/>
            </a:pPr>
            <a:r>
              <a:rPr lang="en-US" sz="1030" dirty="0">
                <a:solidFill>
                  <a:srgbClr val="1B2B33"/>
                </a:solidFill>
                <a:latin typeface="Calibri" pitchFamily="34" charset="0"/>
                <a:ea typeface="Calibri" pitchFamily="34" charset="-122"/>
                <a:cs typeface="Calibri" pitchFamily="34" charset="-120"/>
              </a:rPr>
              <a:t>• Horizontal gradients are calculated using neighboring pixels.</a:t>
            </a: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 Vertical gradients are also calculated.</a:t>
            </a: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 Prediction gradients are compared with target gradients.</a:t>
            </a: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 Gradient error measures differences in image structure and edges.</a:t>
            </a:r>
            <a:endParaRPr lang="en-US" sz="1030" dirty="0"/>
          </a:p>
          <a:p>
            <a:pPr algn="l" indent="0" marL="0">
              <a:buNone/>
            </a:pPr>
            <a:endParaRPr lang="en-US" sz="1030" dirty="0"/>
          </a:p>
          <a:p>
            <a:pPr algn="l" indent="0" marL="0">
              <a:buNone/>
            </a:pPr>
            <a:r>
              <a:rPr lang="en-US" sz="1030" dirty="0">
                <a:solidFill>
                  <a:srgbClr val="1B2B33"/>
                </a:solidFill>
                <a:latin typeface="Calibri" pitchFamily="34" charset="0"/>
                <a:ea typeface="Calibri" pitchFamily="34" charset="-122"/>
                <a:cs typeface="Calibri" pitchFamily="34" charset="-120"/>
              </a:rPr>
              <a:t>Metric used: Mean Gradient Error</a:t>
            </a:r>
            <a:endParaRPr lang="en-US" sz="1030" dirty="0"/>
          </a:p>
        </p:txBody>
      </p:sp>
      <p:sp>
        <p:nvSpPr>
          <p:cNvPr id="24" name="Shape 22"/>
          <p:cNvSpPr/>
          <p:nvPr/>
        </p:nvSpPr>
        <p:spPr>
          <a:xfrm>
            <a:off x="4663440" y="2880360"/>
            <a:ext cx="4114800" cy="777240"/>
          </a:xfrm>
          <a:prstGeom prst="roundRect">
            <a:avLst>
              <a:gd name="adj" fmla="val 7059"/>
            </a:avLst>
          </a:prstGeom>
          <a:solidFill>
            <a:srgbClr val="FFFFFF"/>
          </a:solidFill>
          <a:ln w="12700">
            <a:solidFill>
              <a:srgbClr val="1C7293"/>
            </a:solidFill>
            <a:prstDash val="solid"/>
          </a:ln>
        </p:spPr>
      </p:sp>
      <p:sp>
        <p:nvSpPr>
          <p:cNvPr id="25" name="Text 23"/>
          <p:cNvSpPr txBox="1"/>
          <p:nvPr/>
        </p:nvSpPr>
        <p:spPr>
          <a:xfrm>
            <a:off x="4700016" y="2880360"/>
            <a:ext cx="4041648" cy="777240"/>
          </a:xfrm>
          <a:prstGeom prst="rect">
            <a:avLst/>
          </a:prstGeom>
          <a:noFill/>
          <a:ln/>
        </p:spPr>
        <p:txBody>
          <a:bodyPr wrap="square" lIns="0" tIns="0" rIns="0" bIns="0" rtlCol="0" anchor="ctr"/>
          <a:lstStyle/>
          <a:p>
            <a:pPr algn="l" indent="0" marL="0">
              <a:buNone/>
            </a:pPr>
            <a:r>
              <a:rPr lang="en-US" sz="1000" i="1" dirty="0">
                <a:solidFill>
                  <a:srgbClr val="1B2B33"/>
                </a:solidFill>
                <a:latin typeface="Calibri" pitchFamily="34" charset="0"/>
                <a:ea typeface="Calibri" pitchFamily="34" charset="-122"/>
                <a:cs typeface="Calibri" pitchFamily="34" charset="-120"/>
              </a:rPr>
              <a:t>Gradient analysis helps us investigate whether the predicted image preserves structural and edge information compared with the target.</a:t>
            </a:r>
            <a:endParaRPr lang="en-US" sz="1000" dirty="0"/>
          </a:p>
        </p:txBody>
      </p:sp>
      <p:sp>
        <p:nvSpPr>
          <p:cNvPr id="26" name="Shape 24"/>
          <p:cNvSpPr/>
          <p:nvPr/>
        </p:nvSpPr>
        <p:spPr>
          <a:xfrm>
            <a:off x="4663440" y="3794760"/>
            <a:ext cx="4114800" cy="777240"/>
          </a:xfrm>
          <a:prstGeom prst="rect">
            <a:avLst/>
          </a:prstGeom>
          <a:solidFill>
            <a:srgbClr val="FFFFFF"/>
          </a:solidFill>
          <a:ln w="12700">
            <a:solidFill>
              <a:srgbClr val="B9D3DC"/>
            </a:solidFill>
            <a:prstDash val="solid"/>
          </a:ln>
        </p:spPr>
      </p:sp>
      <p:sp>
        <p:nvSpPr>
          <p:cNvPr id="27" name="Shape 25"/>
          <p:cNvSpPr/>
          <p:nvPr/>
        </p:nvSpPr>
        <p:spPr>
          <a:xfrm>
            <a:off x="5029200" y="4069080"/>
            <a:ext cx="1463040" cy="0"/>
          </a:xfrm>
          <a:prstGeom prst="line">
            <a:avLst/>
          </a:prstGeom>
          <a:noFill/>
          <a:ln w="22225">
            <a:solidFill>
              <a:srgbClr val="065A82"/>
            </a:solidFill>
            <a:prstDash val="solid"/>
            <a:tailEnd type="triangle"/>
          </a:ln>
        </p:spPr>
      </p:sp>
      <p:sp>
        <p:nvSpPr>
          <p:cNvPr id="28" name="Text 26"/>
          <p:cNvSpPr txBox="1"/>
          <p:nvPr/>
        </p:nvSpPr>
        <p:spPr>
          <a:xfrm>
            <a:off x="4983480" y="4142232"/>
            <a:ext cx="1645920" cy="182880"/>
          </a:xfrm>
          <a:prstGeom prst="rect">
            <a:avLst/>
          </a:prstGeom>
          <a:noFill/>
          <a:ln/>
        </p:spPr>
        <p:txBody>
          <a:bodyPr wrap="square" lIns="0" tIns="0" rIns="0" bIns="0" rtlCol="0" anchor="ctr"/>
          <a:lstStyle/>
          <a:p>
            <a:pPr algn="l" indent="0" marL="0">
              <a:buNone/>
            </a:pPr>
            <a:r>
              <a:rPr lang="en-US" sz="850" dirty="0">
                <a:solidFill>
                  <a:srgbClr val="5A6B72"/>
                </a:solidFill>
                <a:latin typeface="Calibri" pitchFamily="34" charset="0"/>
                <a:ea typeface="Calibri" pitchFamily="34" charset="-122"/>
                <a:cs typeface="Calibri" pitchFamily="34" charset="-120"/>
              </a:rPr>
              <a:t>Horizontal gradient</a:t>
            </a:r>
            <a:endParaRPr lang="en-US" sz="850" dirty="0"/>
          </a:p>
        </p:txBody>
      </p:sp>
      <p:sp>
        <p:nvSpPr>
          <p:cNvPr id="29" name="Shape 27"/>
          <p:cNvSpPr/>
          <p:nvPr/>
        </p:nvSpPr>
        <p:spPr>
          <a:xfrm>
            <a:off x="7040880" y="3931920"/>
            <a:ext cx="0" cy="457200"/>
          </a:xfrm>
          <a:prstGeom prst="line">
            <a:avLst/>
          </a:prstGeom>
          <a:noFill/>
          <a:ln w="22225">
            <a:solidFill>
              <a:srgbClr val="1C7293"/>
            </a:solidFill>
            <a:prstDash val="solid"/>
            <a:tailEnd type="triangle"/>
          </a:ln>
        </p:spPr>
      </p:sp>
      <p:sp>
        <p:nvSpPr>
          <p:cNvPr id="30" name="Text 28"/>
          <p:cNvSpPr txBox="1"/>
          <p:nvPr/>
        </p:nvSpPr>
        <p:spPr>
          <a:xfrm>
            <a:off x="7178040" y="3977640"/>
            <a:ext cx="1280160" cy="365760"/>
          </a:xfrm>
          <a:prstGeom prst="rect">
            <a:avLst/>
          </a:prstGeom>
          <a:noFill/>
          <a:ln/>
        </p:spPr>
        <p:txBody>
          <a:bodyPr wrap="square" lIns="0" tIns="0" rIns="0" bIns="0" rtlCol="0" anchor="ctr"/>
          <a:lstStyle/>
          <a:p>
            <a:pPr algn="l" indent="0" marL="0">
              <a:buNone/>
            </a:pPr>
            <a:r>
              <a:rPr lang="en-US" sz="850" dirty="0">
                <a:solidFill>
                  <a:srgbClr val="5A6B72"/>
                </a:solidFill>
                <a:latin typeface="Calibri" pitchFamily="34" charset="0"/>
                <a:ea typeface="Calibri" pitchFamily="34" charset="-122"/>
                <a:cs typeface="Calibri" pitchFamily="34" charset="-120"/>
              </a:rPr>
              <a:t>Vertical</a:t>
            </a:r>
            <a:endParaRPr lang="en-US" sz="850" dirty="0"/>
          </a:p>
          <a:p>
            <a:pPr algn="l" indent="0" marL="0">
              <a:buNone/>
            </a:pPr>
            <a:r>
              <a:rPr lang="en-US" sz="850" dirty="0">
                <a:solidFill>
                  <a:srgbClr val="5A6B72"/>
                </a:solidFill>
                <a:latin typeface="Calibri" pitchFamily="34" charset="0"/>
                <a:ea typeface="Calibri" pitchFamily="34" charset="-122"/>
                <a:cs typeface="Calibri" pitchFamily="34" charset="-120"/>
              </a:rPr>
              <a:t>gradient</a:t>
            </a:r>
            <a:endParaRPr lang="en-US" sz="850" dirty="0"/>
          </a:p>
        </p:txBody>
      </p:sp>
      <p:sp>
        <p:nvSpPr>
          <p:cNvPr id="31" name="Text 29"/>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32" name="Text 30"/>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EXPERIMENTAL IMPROVEMENT</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000" b="1" dirty="0">
                <a:solidFill>
                  <a:srgbClr val="21295C"/>
                </a:solidFill>
                <a:latin typeface="Cambria" pitchFamily="34" charset="0"/>
                <a:ea typeface="Cambria" pitchFamily="34" charset="-122"/>
                <a:cs typeface="Cambria" pitchFamily="34" charset="-120"/>
              </a:rPr>
              <a:t>Targeted Improvement: Structure-Aware Loss Investigation</a:t>
            </a:r>
            <a:endParaRPr lang="en-US" sz="2000" dirty="0"/>
          </a:p>
        </p:txBody>
      </p:sp>
      <p:sp>
        <p:nvSpPr>
          <p:cNvPr id="4" name="Shape 2"/>
          <p:cNvSpPr/>
          <p:nvPr/>
        </p:nvSpPr>
        <p:spPr>
          <a:xfrm>
            <a:off x="365760" y="914400"/>
            <a:ext cx="8412480" cy="502920"/>
          </a:xfrm>
          <a:prstGeom prst="roundRect">
            <a:avLst>
              <a:gd name="adj" fmla="val 10909"/>
            </a:avLst>
          </a:prstGeom>
          <a:solidFill>
            <a:srgbClr val="F2F8FA"/>
          </a:solidFill>
          <a:ln w="12700">
            <a:solidFill>
              <a:srgbClr val="B9D3DC"/>
            </a:solidFill>
            <a:prstDash val="solid"/>
          </a:ln>
        </p:spPr>
      </p:sp>
      <p:sp>
        <p:nvSpPr>
          <p:cNvPr id="5" name="Text 3"/>
          <p:cNvSpPr txBox="1"/>
          <p:nvPr/>
        </p:nvSpPr>
        <p:spPr>
          <a:xfrm>
            <a:off x="402336" y="914400"/>
            <a:ext cx="8339328" cy="502920"/>
          </a:xfrm>
          <a:prstGeom prst="rect">
            <a:avLst/>
          </a:prstGeom>
          <a:noFill/>
          <a:ln/>
        </p:spPr>
        <p:txBody>
          <a:bodyPr wrap="square" lIns="0" tIns="0" rIns="0" bIns="0" rtlCol="0" anchor="ctr"/>
          <a:lstStyle/>
          <a:p>
            <a:pPr algn="l" indent="0" marL="0">
              <a:buNone/>
            </a:pPr>
            <a:r>
              <a:rPr lang="en-US" sz="1100" i="1" dirty="0">
                <a:solidFill>
                  <a:srgbClr val="1B2B33"/>
                </a:solidFill>
                <a:latin typeface="Calibri" pitchFamily="34" charset="0"/>
                <a:ea typeface="Calibri" pitchFamily="34" charset="-122"/>
                <a:cs typeface="Calibri" pitchFamily="34" charset="-120"/>
              </a:rPr>
              <a:t>Failure analysis can reveal whether image differences are related not only to pixel-level error but also to structural differences.</a:t>
            </a:r>
            <a:endParaRPr lang="en-US" sz="1100" dirty="0"/>
          </a:p>
        </p:txBody>
      </p:sp>
      <p:sp>
        <p:nvSpPr>
          <p:cNvPr id="6" name="Shape 4"/>
          <p:cNvSpPr/>
          <p:nvPr/>
        </p:nvSpPr>
        <p:spPr>
          <a:xfrm>
            <a:off x="365760" y="1600200"/>
            <a:ext cx="2103120" cy="502920"/>
          </a:xfrm>
          <a:prstGeom prst="roundRect">
            <a:avLst>
              <a:gd name="adj" fmla="val 10909"/>
            </a:avLst>
          </a:prstGeom>
          <a:solidFill>
            <a:srgbClr val="E7F1F4"/>
          </a:solidFill>
          <a:ln w="12700">
            <a:solidFill>
              <a:srgbClr val="B9D3DC"/>
            </a:solidFill>
            <a:prstDash val="solid"/>
          </a:ln>
        </p:spPr>
      </p:sp>
      <p:sp>
        <p:nvSpPr>
          <p:cNvPr id="7" name="Text 5"/>
          <p:cNvSpPr txBox="1"/>
          <p:nvPr/>
        </p:nvSpPr>
        <p:spPr>
          <a:xfrm>
            <a:off x="402336" y="1600200"/>
            <a:ext cx="2029968" cy="502920"/>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Prediction</a:t>
            </a:r>
            <a:endParaRPr lang="en-US" sz="1050" dirty="0"/>
          </a:p>
          <a:p>
            <a:pPr algn="ctr" indent="0" marL="0">
              <a:buNone/>
            </a:pPr>
            <a:r>
              <a:rPr lang="en-US" sz="1050" b="1" dirty="0">
                <a:solidFill>
                  <a:srgbClr val="21295C"/>
                </a:solidFill>
                <a:latin typeface="Calibri" pitchFamily="34" charset="0"/>
                <a:ea typeface="Calibri" pitchFamily="34" charset="-122"/>
                <a:cs typeface="Calibri" pitchFamily="34" charset="-120"/>
              </a:rPr>
              <a:t>+ Target</a:t>
            </a:r>
            <a:endParaRPr lang="en-US" sz="1050" dirty="0"/>
          </a:p>
        </p:txBody>
      </p:sp>
      <p:sp>
        <p:nvSpPr>
          <p:cNvPr id="8" name="Shape 6"/>
          <p:cNvSpPr/>
          <p:nvPr/>
        </p:nvSpPr>
        <p:spPr>
          <a:xfrm>
            <a:off x="2487168" y="1851660"/>
            <a:ext cx="283464" cy="0"/>
          </a:xfrm>
          <a:prstGeom prst="line">
            <a:avLst/>
          </a:prstGeom>
          <a:noFill/>
          <a:ln w="22225">
            <a:solidFill>
              <a:srgbClr val="1C7293"/>
            </a:solidFill>
            <a:prstDash val="solid"/>
            <a:tailEnd type="triangle"/>
          </a:ln>
        </p:spPr>
      </p:sp>
      <p:sp>
        <p:nvSpPr>
          <p:cNvPr id="9" name="Shape 7"/>
          <p:cNvSpPr/>
          <p:nvPr/>
        </p:nvSpPr>
        <p:spPr>
          <a:xfrm>
            <a:off x="2788920" y="1417320"/>
            <a:ext cx="2468880" cy="384048"/>
          </a:xfrm>
          <a:prstGeom prst="roundRect">
            <a:avLst>
              <a:gd name="adj" fmla="val 14286"/>
            </a:avLst>
          </a:prstGeom>
          <a:solidFill>
            <a:srgbClr val="F2F8FA"/>
          </a:solidFill>
          <a:ln w="12700">
            <a:solidFill>
              <a:srgbClr val="B9D3DC"/>
            </a:solidFill>
            <a:prstDash val="solid"/>
          </a:ln>
        </p:spPr>
      </p:sp>
      <p:sp>
        <p:nvSpPr>
          <p:cNvPr id="10" name="Text 8"/>
          <p:cNvSpPr txBox="1"/>
          <p:nvPr/>
        </p:nvSpPr>
        <p:spPr>
          <a:xfrm>
            <a:off x="2825496" y="1417320"/>
            <a:ext cx="2395728" cy="384048"/>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L1 Loss</a:t>
            </a:r>
            <a:endParaRPr lang="en-US" sz="1050" dirty="0"/>
          </a:p>
        </p:txBody>
      </p:sp>
      <p:sp>
        <p:nvSpPr>
          <p:cNvPr id="11" name="Text 9"/>
          <p:cNvSpPr txBox="1"/>
          <p:nvPr/>
        </p:nvSpPr>
        <p:spPr>
          <a:xfrm>
            <a:off x="3886200" y="1810512"/>
            <a:ext cx="274320" cy="201168"/>
          </a:xfrm>
          <a:prstGeom prst="rect">
            <a:avLst/>
          </a:prstGeom>
          <a:noFill/>
          <a:ln/>
        </p:spPr>
        <p:txBody>
          <a:bodyPr wrap="square" lIns="0" tIns="0" rIns="0" bIns="0" rtlCol="0" anchor="ctr"/>
          <a:lstStyle/>
          <a:p>
            <a:pPr algn="ctr" indent="0" marL="0">
              <a:buNone/>
            </a:pPr>
            <a:r>
              <a:rPr lang="en-US" sz="1300" b="1" dirty="0">
                <a:solidFill>
                  <a:srgbClr val="1C7293"/>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2788920" y="2011680"/>
            <a:ext cx="2468880" cy="384048"/>
          </a:xfrm>
          <a:prstGeom prst="roundRect">
            <a:avLst>
              <a:gd name="adj" fmla="val 14286"/>
            </a:avLst>
          </a:prstGeom>
          <a:solidFill>
            <a:srgbClr val="F2F8FA"/>
          </a:solidFill>
          <a:ln w="12700">
            <a:solidFill>
              <a:srgbClr val="B9D3DC"/>
            </a:solidFill>
            <a:prstDash val="solid"/>
          </a:ln>
        </p:spPr>
      </p:sp>
      <p:sp>
        <p:nvSpPr>
          <p:cNvPr id="13" name="Text 11"/>
          <p:cNvSpPr txBox="1"/>
          <p:nvPr/>
        </p:nvSpPr>
        <p:spPr>
          <a:xfrm>
            <a:off x="2825496" y="2011680"/>
            <a:ext cx="2395728" cy="384048"/>
          </a:xfrm>
          <a:prstGeom prst="rect">
            <a:avLst/>
          </a:prstGeom>
          <a:noFill/>
          <a:ln/>
        </p:spPr>
        <p:txBody>
          <a:bodyPr wrap="square" lIns="0" tIns="0" rIns="0" bIns="0" rtlCol="0" anchor="ctr"/>
          <a:lstStyle/>
          <a:p>
            <a:pPr algn="ctr" indent="0" marL="0">
              <a:buNone/>
            </a:pPr>
            <a:r>
              <a:rPr lang="en-US" sz="1050" b="1" dirty="0">
                <a:solidFill>
                  <a:srgbClr val="21295C"/>
                </a:solidFill>
                <a:latin typeface="Calibri" pitchFamily="34" charset="0"/>
                <a:ea typeface="Calibri" pitchFamily="34" charset="-122"/>
                <a:cs typeface="Calibri" pitchFamily="34" charset="-120"/>
              </a:rPr>
              <a:t>Gradient Loss</a:t>
            </a:r>
            <a:endParaRPr lang="en-US" sz="1050" dirty="0"/>
          </a:p>
        </p:txBody>
      </p:sp>
      <p:sp>
        <p:nvSpPr>
          <p:cNvPr id="14" name="Shape 12"/>
          <p:cNvSpPr/>
          <p:nvPr/>
        </p:nvSpPr>
        <p:spPr>
          <a:xfrm>
            <a:off x="5276088" y="1851660"/>
            <a:ext cx="283464" cy="0"/>
          </a:xfrm>
          <a:prstGeom prst="line">
            <a:avLst/>
          </a:prstGeom>
          <a:noFill/>
          <a:ln w="22225">
            <a:solidFill>
              <a:srgbClr val="1C7293"/>
            </a:solidFill>
            <a:prstDash val="solid"/>
            <a:tailEnd type="triangle"/>
          </a:ln>
        </p:spPr>
      </p:sp>
      <p:sp>
        <p:nvSpPr>
          <p:cNvPr id="15" name="Shape 13"/>
          <p:cNvSpPr/>
          <p:nvPr/>
        </p:nvSpPr>
        <p:spPr>
          <a:xfrm>
            <a:off x="5577840" y="1481328"/>
            <a:ext cx="2651760" cy="777240"/>
          </a:xfrm>
          <a:prstGeom prst="roundRect">
            <a:avLst>
              <a:gd name="adj" fmla="val 7059"/>
            </a:avLst>
          </a:prstGeom>
          <a:solidFill>
            <a:srgbClr val="DCEBF1"/>
          </a:solidFill>
          <a:ln w="17780">
            <a:solidFill>
              <a:srgbClr val="065A82"/>
            </a:solidFill>
            <a:prstDash val="solid"/>
          </a:ln>
        </p:spPr>
      </p:sp>
      <p:sp>
        <p:nvSpPr>
          <p:cNvPr id="16" name="Text 14"/>
          <p:cNvSpPr txBox="1"/>
          <p:nvPr/>
        </p:nvSpPr>
        <p:spPr>
          <a:xfrm>
            <a:off x="5614416" y="1481328"/>
            <a:ext cx="2578608" cy="777240"/>
          </a:xfrm>
          <a:prstGeom prst="rect">
            <a:avLst/>
          </a:prstGeom>
          <a:noFill/>
          <a:ln/>
        </p:spPr>
        <p:txBody>
          <a:bodyPr wrap="square" lIns="0" tIns="0" rIns="0" bIns="0" rtlCol="0" anchor="ctr"/>
          <a:lstStyle/>
          <a:p>
            <a:pPr algn="ctr" indent="0" marL="0">
              <a:buNone/>
            </a:pPr>
            <a:r>
              <a:rPr lang="en-US" sz="1200" b="1" dirty="0">
                <a:solidFill>
                  <a:srgbClr val="21295C"/>
                </a:solidFill>
                <a:latin typeface="Calibri" pitchFamily="34" charset="0"/>
                <a:ea typeface="Calibri" pitchFamily="34" charset="-122"/>
                <a:cs typeface="Calibri" pitchFamily="34" charset="-120"/>
              </a:rPr>
              <a:t>Combined</a:t>
            </a:r>
            <a:endParaRPr lang="en-US" sz="1200" dirty="0"/>
          </a:p>
          <a:p>
            <a:pPr algn="ctr" indent="0" marL="0">
              <a:buNone/>
            </a:pPr>
            <a:r>
              <a:rPr lang="en-US" sz="1200" b="1" dirty="0">
                <a:solidFill>
                  <a:srgbClr val="21295C"/>
                </a:solidFill>
                <a:latin typeface="Calibri" pitchFamily="34" charset="0"/>
                <a:ea typeface="Calibri" pitchFamily="34" charset="-122"/>
                <a:cs typeface="Calibri" pitchFamily="34" charset="-120"/>
              </a:rPr>
              <a:t>Loss</a:t>
            </a:r>
            <a:endParaRPr lang="en-US" sz="1200" dirty="0"/>
          </a:p>
        </p:txBody>
      </p:sp>
      <p:sp>
        <p:nvSpPr>
          <p:cNvPr id="17" name="Shape 15"/>
          <p:cNvSpPr/>
          <p:nvPr/>
        </p:nvSpPr>
        <p:spPr>
          <a:xfrm>
            <a:off x="365760" y="2606040"/>
            <a:ext cx="8412480" cy="502920"/>
          </a:xfrm>
          <a:prstGeom prst="roundRect">
            <a:avLst>
              <a:gd name="adj" fmla="val 10909"/>
            </a:avLst>
          </a:prstGeom>
          <a:solidFill>
            <a:srgbClr val="DCEBF1"/>
          </a:solidFill>
          <a:ln w="15240">
            <a:solidFill>
              <a:srgbClr val="065A82"/>
            </a:solidFill>
            <a:prstDash val="solid"/>
          </a:ln>
        </p:spPr>
      </p:sp>
      <p:sp>
        <p:nvSpPr>
          <p:cNvPr id="18" name="Text 16"/>
          <p:cNvSpPr txBox="1"/>
          <p:nvPr/>
        </p:nvSpPr>
        <p:spPr>
          <a:xfrm>
            <a:off x="402336" y="2606040"/>
            <a:ext cx="8339328" cy="502920"/>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Combined Loss  =  L1 Loss  +  0.1 × Gradient Loss</a:t>
            </a:r>
            <a:endParaRPr lang="en-US" sz="1400" dirty="0"/>
          </a:p>
        </p:txBody>
      </p:sp>
      <p:sp>
        <p:nvSpPr>
          <p:cNvPr id="19" name="Text 17"/>
          <p:cNvSpPr txBox="1"/>
          <p:nvPr/>
        </p:nvSpPr>
        <p:spPr>
          <a:xfrm>
            <a:off x="365760" y="3291840"/>
            <a:ext cx="8412480" cy="868680"/>
          </a:xfrm>
          <a:prstGeom prst="rect">
            <a:avLst/>
          </a:prstGeom>
          <a:noFill/>
          <a:ln/>
        </p:spPr>
        <p:txBody>
          <a:bodyPr wrap="square" lIns="0" tIns="0" rIns="0" bIns="0" rtlCol="0" anchor="t"/>
          <a:lstStyle/>
          <a:p>
            <a:pPr algn="l" marL="177800" indent="-177800">
              <a:spcAft>
                <a:spcPts val="800"/>
              </a:spcAft>
              <a:buSzPct val="100000"/>
              <a:buChar char="✦"/>
            </a:pPr>
            <a:r>
              <a:rPr lang="en-US" sz="1050" dirty="0">
                <a:solidFill>
                  <a:srgbClr val="1B2B33"/>
                </a:solidFill>
                <a:latin typeface="Calibri" pitchFamily="34" charset="0"/>
                <a:ea typeface="Calibri" pitchFamily="34" charset="-122"/>
                <a:cs typeface="Calibri" pitchFamily="34" charset="-120"/>
              </a:rPr>
              <a:t>L1 loss measures pixel-level absolute difference.</a:t>
            </a:r>
            <a:endParaRPr lang="en-US" sz="1050" dirty="0"/>
          </a:p>
          <a:p>
            <a:pPr algn="l" marL="177800" indent="-177800">
              <a:spcAft>
                <a:spcPts val="800"/>
              </a:spcAft>
              <a:buSzPct val="100000"/>
              <a:buChar char="✦"/>
            </a:pPr>
            <a:r>
              <a:rPr lang="en-US" sz="1050" dirty="0">
                <a:solidFill>
                  <a:srgbClr val="1B2B33"/>
                </a:solidFill>
                <a:latin typeface="Calibri" pitchFamily="34" charset="0"/>
                <a:ea typeface="Calibri" pitchFamily="34" charset="-122"/>
                <a:cs typeface="Calibri" pitchFamily="34" charset="-120"/>
              </a:rPr>
              <a:t>Gradient loss compares horizontal and vertical image gradients.</a:t>
            </a:r>
            <a:endParaRPr lang="en-US" sz="1050" dirty="0"/>
          </a:p>
          <a:p>
            <a:pPr algn="l" marL="177800" indent="-177800">
              <a:spcAft>
                <a:spcPts val="800"/>
              </a:spcAft>
              <a:buSzPct val="100000"/>
              <a:buChar char="✦"/>
            </a:pPr>
            <a:r>
              <a:rPr lang="en-US" sz="1050" dirty="0">
                <a:solidFill>
                  <a:srgbClr val="1B2B33"/>
                </a:solidFill>
                <a:latin typeface="Calibri" pitchFamily="34" charset="0"/>
                <a:ea typeface="Calibri" pitchFamily="34" charset="-122"/>
                <a:cs typeface="Calibri" pitchFamily="34" charset="-120"/>
              </a:rPr>
              <a:t>The additional gradient component is intended to make structural differences part of the analysis.  This is a targeted improvement experiment.</a:t>
            </a:r>
            <a:endParaRPr lang="en-US" sz="1050" dirty="0"/>
          </a:p>
        </p:txBody>
      </p:sp>
      <p:sp>
        <p:nvSpPr>
          <p:cNvPr id="20" name="Shape 18"/>
          <p:cNvSpPr/>
          <p:nvPr/>
        </p:nvSpPr>
        <p:spPr>
          <a:xfrm>
            <a:off x="365760" y="4206240"/>
            <a:ext cx="8412480" cy="566928"/>
          </a:xfrm>
          <a:prstGeom prst="roundRect">
            <a:avLst>
              <a:gd name="adj" fmla="val 9677"/>
            </a:avLst>
          </a:prstGeom>
          <a:solidFill>
            <a:srgbClr val="FFFFFF"/>
          </a:solidFill>
          <a:ln w="17780">
            <a:solidFill>
              <a:srgbClr val="21295C"/>
            </a:solidFill>
            <a:prstDash val="solid"/>
          </a:ln>
        </p:spPr>
      </p:sp>
      <p:sp>
        <p:nvSpPr>
          <p:cNvPr id="21" name="Text 19"/>
          <p:cNvSpPr txBox="1"/>
          <p:nvPr/>
        </p:nvSpPr>
        <p:spPr>
          <a:xfrm>
            <a:off x="402336" y="4206240"/>
            <a:ext cx="8339328" cy="566928"/>
          </a:xfrm>
          <a:prstGeom prst="rect">
            <a:avLst/>
          </a:prstGeom>
          <a:noFill/>
          <a:ln/>
        </p:spPr>
        <p:txBody>
          <a:bodyPr wrap="square" lIns="0" tIns="0" rIns="0" bIns="0" rtlCol="0" anchor="ctr"/>
          <a:lstStyle/>
          <a:p>
            <a:pPr algn="l" indent="0" marL="0">
              <a:buNone/>
            </a:pPr>
            <a:r>
              <a:rPr lang="en-US" sz="950" b="1" dirty="0">
                <a:solidFill>
                  <a:srgbClr val="21295C"/>
                </a:solidFill>
                <a:latin typeface="Calibri" pitchFamily="34" charset="0"/>
                <a:ea typeface="Calibri" pitchFamily="34" charset="-122"/>
                <a:cs typeface="Calibri" pitchFamily="34" charset="-120"/>
              </a:rPr>
              <a:t>IMPORTANT: Do NOT call this the “new final model.” Do NOT say the model was retrained on the test set. Do NOT claim performance improved unless proven by actual results.</a:t>
            </a:r>
            <a:endParaRPr lang="en-US" sz="950" dirty="0"/>
          </a:p>
        </p:txBody>
      </p:sp>
      <p:sp>
        <p:nvSpPr>
          <p:cNvPr id="22" name="Text 20"/>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23" name="Text 21"/>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256032"/>
            <a:ext cx="8412480" cy="219456"/>
          </a:xfrm>
          <a:prstGeom prst="rect">
            <a:avLst/>
          </a:prstGeom>
          <a:noFill/>
          <a:ln/>
        </p:spPr>
        <p:txBody>
          <a:bodyPr wrap="square" lIns="0" tIns="0" rIns="0" bIns="0" rtlCol="0" anchor="ctr"/>
          <a:lstStyle/>
          <a:p>
            <a:pPr algn="l" indent="0" marL="0">
              <a:buNone/>
            </a:pPr>
            <a:r>
              <a:rPr lang="en-US" sz="1100" b="1" spc="100" kern="0" dirty="0">
                <a:solidFill>
                  <a:srgbClr val="1C7293"/>
                </a:solidFill>
                <a:latin typeface="Calibri" pitchFamily="34" charset="0"/>
                <a:ea typeface="Calibri" pitchFamily="34" charset="-122"/>
                <a:cs typeface="Calibri" pitchFamily="34" charset="-120"/>
              </a:rPr>
              <a:t>PROJECT STATUS</a:t>
            </a:r>
            <a:endParaRPr lang="en-US" sz="1100" dirty="0"/>
          </a:p>
        </p:txBody>
      </p:sp>
      <p:sp>
        <p:nvSpPr>
          <p:cNvPr id="3" name="Text 1"/>
          <p:cNvSpPr txBox="1"/>
          <p:nvPr/>
        </p:nvSpPr>
        <p:spPr>
          <a:xfrm>
            <a:off x="365760" y="457200"/>
            <a:ext cx="8412480" cy="457200"/>
          </a:xfrm>
          <a:prstGeom prst="rect">
            <a:avLst/>
          </a:prstGeom>
          <a:noFill/>
          <a:ln/>
        </p:spPr>
        <p:txBody>
          <a:bodyPr wrap="square" lIns="0" tIns="0" rIns="0" bIns="0" rtlCol="0" anchor="ctr"/>
          <a:lstStyle/>
          <a:p>
            <a:pPr algn="l" indent="0" marL="0">
              <a:buNone/>
            </a:pPr>
            <a:r>
              <a:rPr lang="en-US" sz="2600" b="1" dirty="0">
                <a:solidFill>
                  <a:srgbClr val="21295C"/>
                </a:solidFill>
                <a:latin typeface="Cambria" pitchFamily="34" charset="0"/>
                <a:ea typeface="Cambria" pitchFamily="34" charset="-122"/>
                <a:cs typeface="Cambria" pitchFamily="34" charset="-120"/>
              </a:rPr>
              <a:t>Day 25: Final Failure Analysis and Project Status</a:t>
            </a:r>
            <a:endParaRPr lang="en-US" sz="2600" dirty="0"/>
          </a:p>
        </p:txBody>
      </p:sp>
      <p:sp>
        <p:nvSpPr>
          <p:cNvPr id="4" name="Shape 2"/>
          <p:cNvSpPr/>
          <p:nvPr/>
        </p:nvSpPr>
        <p:spPr>
          <a:xfrm>
            <a:off x="365760" y="914400"/>
            <a:ext cx="4114800" cy="868680"/>
          </a:xfrm>
          <a:prstGeom prst="roundRect">
            <a:avLst>
              <a:gd name="adj" fmla="val 6316"/>
            </a:avLst>
          </a:prstGeom>
          <a:solidFill>
            <a:srgbClr val="F2F8FA"/>
          </a:solidFill>
          <a:ln w="12700">
            <a:solidFill>
              <a:srgbClr val="B9D3DC"/>
            </a:solidFill>
            <a:prstDash val="solid"/>
          </a:ln>
        </p:spPr>
      </p:sp>
      <p:sp>
        <p:nvSpPr>
          <p:cNvPr id="5" name="Shape 3"/>
          <p:cNvSpPr/>
          <p:nvPr/>
        </p:nvSpPr>
        <p:spPr>
          <a:xfrm>
            <a:off x="475488" y="1024128"/>
            <a:ext cx="365760" cy="365760"/>
          </a:xfrm>
          <a:prstGeom prst="ellipse">
            <a:avLst/>
          </a:prstGeom>
          <a:solidFill>
            <a:srgbClr val="065A82"/>
          </a:solidFill>
          <a:ln/>
        </p:spPr>
      </p:sp>
      <p:sp>
        <p:nvSpPr>
          <p:cNvPr id="6" name="Text 4"/>
          <p:cNvSpPr txBox="1"/>
          <p:nvPr/>
        </p:nvSpPr>
        <p:spPr>
          <a:xfrm>
            <a:off x="475488" y="102412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t>
            </a:r>
            <a:endParaRPr lang="en-US" sz="1000" dirty="0"/>
          </a:p>
        </p:txBody>
      </p:sp>
      <p:sp>
        <p:nvSpPr>
          <p:cNvPr id="7" name="Text 5"/>
          <p:cNvSpPr txBox="1"/>
          <p:nvPr/>
        </p:nvSpPr>
        <p:spPr>
          <a:xfrm>
            <a:off x="914400" y="1005840"/>
            <a:ext cx="3429000" cy="27432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FINAL MODEL</a:t>
            </a:r>
            <a:endParaRPr lang="en-US" sz="1150" dirty="0"/>
          </a:p>
        </p:txBody>
      </p:sp>
      <p:sp>
        <p:nvSpPr>
          <p:cNvPr id="8" name="Text 6"/>
          <p:cNvSpPr txBox="1"/>
          <p:nvPr/>
        </p:nvSpPr>
        <p:spPr>
          <a:xfrm>
            <a:off x="530352" y="1353312"/>
            <a:ext cx="3794760" cy="365760"/>
          </a:xfrm>
          <a:prstGeom prst="rect">
            <a:avLst/>
          </a:prstGeom>
          <a:noFill/>
          <a:ln/>
        </p:spPr>
        <p:txBody>
          <a:bodyPr wrap="square" lIns="0" tIns="0" rIns="0" bIns="0" rtlCol="0" anchor="t"/>
          <a:lstStyle/>
          <a:p>
            <a:pPr algn="l" indent="0" marL="0">
              <a:buNone/>
            </a:pPr>
            <a:r>
              <a:rPr lang="en-US" sz="960" dirty="0">
                <a:solidFill>
                  <a:srgbClr val="1B2B33"/>
                </a:solidFill>
                <a:latin typeface="Calibri" pitchFamily="34" charset="0"/>
                <a:ea typeface="Calibri" pitchFamily="34" charset="-122"/>
                <a:cs typeface="Calibri" pitchFamily="34" charset="-120"/>
              </a:rPr>
              <a:t>Frozen U-Net</a:t>
            </a:r>
            <a:endParaRPr lang="en-US" sz="960" dirty="0"/>
          </a:p>
        </p:txBody>
      </p:sp>
      <p:sp>
        <p:nvSpPr>
          <p:cNvPr id="9" name="Shape 7"/>
          <p:cNvSpPr/>
          <p:nvPr/>
        </p:nvSpPr>
        <p:spPr>
          <a:xfrm>
            <a:off x="4663440" y="914400"/>
            <a:ext cx="4114800" cy="868680"/>
          </a:xfrm>
          <a:prstGeom prst="roundRect">
            <a:avLst>
              <a:gd name="adj" fmla="val 6316"/>
            </a:avLst>
          </a:prstGeom>
          <a:solidFill>
            <a:srgbClr val="F2F8FA"/>
          </a:solidFill>
          <a:ln w="12700">
            <a:solidFill>
              <a:srgbClr val="B9D3DC"/>
            </a:solidFill>
            <a:prstDash val="solid"/>
          </a:ln>
        </p:spPr>
      </p:sp>
      <p:sp>
        <p:nvSpPr>
          <p:cNvPr id="10" name="Shape 8"/>
          <p:cNvSpPr/>
          <p:nvPr/>
        </p:nvSpPr>
        <p:spPr>
          <a:xfrm>
            <a:off x="4773168" y="1024128"/>
            <a:ext cx="365760" cy="365760"/>
          </a:xfrm>
          <a:prstGeom prst="ellipse">
            <a:avLst/>
          </a:prstGeom>
          <a:solidFill>
            <a:srgbClr val="065A82"/>
          </a:solidFill>
          <a:ln/>
        </p:spPr>
      </p:sp>
      <p:sp>
        <p:nvSpPr>
          <p:cNvPr id="11" name="Text 9"/>
          <p:cNvSpPr txBox="1"/>
          <p:nvPr/>
        </p:nvSpPr>
        <p:spPr>
          <a:xfrm>
            <a:off x="4773168" y="102412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t>
            </a:r>
            <a:endParaRPr lang="en-US" sz="1000" dirty="0"/>
          </a:p>
        </p:txBody>
      </p:sp>
      <p:sp>
        <p:nvSpPr>
          <p:cNvPr id="12" name="Text 10"/>
          <p:cNvSpPr txBox="1"/>
          <p:nvPr/>
        </p:nvSpPr>
        <p:spPr>
          <a:xfrm>
            <a:off x="5212080" y="1005840"/>
            <a:ext cx="3429000" cy="27432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TESTING</a:t>
            </a:r>
            <a:endParaRPr lang="en-US" sz="1150" dirty="0"/>
          </a:p>
        </p:txBody>
      </p:sp>
      <p:sp>
        <p:nvSpPr>
          <p:cNvPr id="13" name="Text 11"/>
          <p:cNvSpPr txBox="1"/>
          <p:nvPr/>
        </p:nvSpPr>
        <p:spPr>
          <a:xfrm>
            <a:off x="4828032" y="1353312"/>
            <a:ext cx="3794760" cy="365760"/>
          </a:xfrm>
          <a:prstGeom prst="rect">
            <a:avLst/>
          </a:prstGeom>
          <a:noFill/>
          <a:ln/>
        </p:spPr>
        <p:txBody>
          <a:bodyPr wrap="square" lIns="0" tIns="0" rIns="0" bIns="0" rtlCol="0" anchor="t"/>
          <a:lstStyle/>
          <a:p>
            <a:pPr algn="l" indent="0" marL="0">
              <a:buNone/>
            </a:pPr>
            <a:r>
              <a:rPr lang="en-US" sz="960" dirty="0">
                <a:solidFill>
                  <a:srgbClr val="1B2B33"/>
                </a:solidFill>
                <a:latin typeface="Calibri" pitchFamily="34" charset="0"/>
                <a:ea typeface="Calibri" pitchFamily="34" charset="-122"/>
                <a:cs typeface="Calibri" pitchFamily="34" charset="-120"/>
              </a:rPr>
              <a:t>Held-out test set</a:t>
            </a:r>
            <a:endParaRPr lang="en-US" sz="960" dirty="0"/>
          </a:p>
        </p:txBody>
      </p:sp>
      <p:sp>
        <p:nvSpPr>
          <p:cNvPr id="14" name="Shape 12"/>
          <p:cNvSpPr/>
          <p:nvPr/>
        </p:nvSpPr>
        <p:spPr>
          <a:xfrm>
            <a:off x="365760" y="1920240"/>
            <a:ext cx="4114800" cy="868680"/>
          </a:xfrm>
          <a:prstGeom prst="roundRect">
            <a:avLst>
              <a:gd name="adj" fmla="val 6316"/>
            </a:avLst>
          </a:prstGeom>
          <a:solidFill>
            <a:srgbClr val="F2F8FA"/>
          </a:solidFill>
          <a:ln w="12700">
            <a:solidFill>
              <a:srgbClr val="B9D3DC"/>
            </a:solidFill>
            <a:prstDash val="solid"/>
          </a:ln>
        </p:spPr>
      </p:sp>
      <p:sp>
        <p:nvSpPr>
          <p:cNvPr id="15" name="Shape 13"/>
          <p:cNvSpPr/>
          <p:nvPr/>
        </p:nvSpPr>
        <p:spPr>
          <a:xfrm>
            <a:off x="475488" y="2029968"/>
            <a:ext cx="365760" cy="365760"/>
          </a:xfrm>
          <a:prstGeom prst="ellipse">
            <a:avLst/>
          </a:prstGeom>
          <a:solidFill>
            <a:srgbClr val="065A82"/>
          </a:solidFill>
          <a:ln/>
        </p:spPr>
      </p:sp>
      <p:sp>
        <p:nvSpPr>
          <p:cNvPr id="16" name="Text 14"/>
          <p:cNvSpPr txBox="1"/>
          <p:nvPr/>
        </p:nvSpPr>
        <p:spPr>
          <a:xfrm>
            <a:off x="475488" y="202996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a:t>
            </a:r>
            <a:endParaRPr lang="en-US" sz="1000" dirty="0"/>
          </a:p>
        </p:txBody>
      </p:sp>
      <p:sp>
        <p:nvSpPr>
          <p:cNvPr id="17" name="Text 15"/>
          <p:cNvSpPr txBox="1"/>
          <p:nvPr/>
        </p:nvSpPr>
        <p:spPr>
          <a:xfrm>
            <a:off x="914400" y="2011680"/>
            <a:ext cx="3429000" cy="27432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FAILURE ANALYSIS</a:t>
            </a:r>
            <a:endParaRPr lang="en-US" sz="1150" dirty="0"/>
          </a:p>
        </p:txBody>
      </p:sp>
      <p:sp>
        <p:nvSpPr>
          <p:cNvPr id="18" name="Text 16"/>
          <p:cNvSpPr txBox="1"/>
          <p:nvPr/>
        </p:nvSpPr>
        <p:spPr>
          <a:xfrm>
            <a:off x="530352" y="2359152"/>
            <a:ext cx="3794760" cy="365760"/>
          </a:xfrm>
          <a:prstGeom prst="rect">
            <a:avLst/>
          </a:prstGeom>
          <a:noFill/>
          <a:ln/>
        </p:spPr>
        <p:txBody>
          <a:bodyPr wrap="square" lIns="0" tIns="0" rIns="0" bIns="0" rtlCol="0" anchor="t"/>
          <a:lstStyle/>
          <a:p>
            <a:pPr algn="l" indent="0" marL="0">
              <a:buNone/>
            </a:pPr>
            <a:r>
              <a:rPr lang="en-US" sz="960" dirty="0">
                <a:solidFill>
                  <a:srgbClr val="1B2B33"/>
                </a:solidFill>
                <a:latin typeface="Calibri" pitchFamily="34" charset="0"/>
                <a:ea typeface="Calibri" pitchFamily="34" charset="-122"/>
                <a:cs typeface="Calibri" pitchFamily="34" charset="-120"/>
              </a:rPr>
              <a:t>Top difficult cases • L1 error • RGB channel errors • Gradient error</a:t>
            </a:r>
            <a:endParaRPr lang="en-US" sz="960" dirty="0"/>
          </a:p>
        </p:txBody>
      </p:sp>
      <p:sp>
        <p:nvSpPr>
          <p:cNvPr id="19" name="Shape 17"/>
          <p:cNvSpPr/>
          <p:nvPr/>
        </p:nvSpPr>
        <p:spPr>
          <a:xfrm>
            <a:off x="4663440" y="1920240"/>
            <a:ext cx="4114800" cy="868680"/>
          </a:xfrm>
          <a:prstGeom prst="roundRect">
            <a:avLst>
              <a:gd name="adj" fmla="val 6316"/>
            </a:avLst>
          </a:prstGeom>
          <a:solidFill>
            <a:srgbClr val="F2F8FA"/>
          </a:solidFill>
          <a:ln w="12700">
            <a:solidFill>
              <a:srgbClr val="B9D3DC"/>
            </a:solidFill>
            <a:prstDash val="solid"/>
          </a:ln>
        </p:spPr>
      </p:sp>
      <p:sp>
        <p:nvSpPr>
          <p:cNvPr id="20" name="Shape 18"/>
          <p:cNvSpPr/>
          <p:nvPr/>
        </p:nvSpPr>
        <p:spPr>
          <a:xfrm>
            <a:off x="4773168" y="2029968"/>
            <a:ext cx="365760" cy="365760"/>
          </a:xfrm>
          <a:prstGeom prst="ellipse">
            <a:avLst/>
          </a:prstGeom>
          <a:solidFill>
            <a:srgbClr val="065A82"/>
          </a:solidFill>
          <a:ln/>
        </p:spPr>
      </p:sp>
      <p:sp>
        <p:nvSpPr>
          <p:cNvPr id="21" name="Text 19"/>
          <p:cNvSpPr txBox="1"/>
          <p:nvPr/>
        </p:nvSpPr>
        <p:spPr>
          <a:xfrm>
            <a:off x="4773168" y="2029968"/>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a:t>
            </a:r>
            <a:endParaRPr lang="en-US" sz="1000" dirty="0"/>
          </a:p>
        </p:txBody>
      </p:sp>
      <p:sp>
        <p:nvSpPr>
          <p:cNvPr id="22" name="Text 20"/>
          <p:cNvSpPr txBox="1"/>
          <p:nvPr/>
        </p:nvSpPr>
        <p:spPr>
          <a:xfrm>
            <a:off x="5212080" y="2011680"/>
            <a:ext cx="3429000" cy="274320"/>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TARGETED IMPROVEMENT</a:t>
            </a:r>
            <a:endParaRPr lang="en-US" sz="1150" dirty="0"/>
          </a:p>
        </p:txBody>
      </p:sp>
      <p:sp>
        <p:nvSpPr>
          <p:cNvPr id="23" name="Text 21"/>
          <p:cNvSpPr txBox="1"/>
          <p:nvPr/>
        </p:nvSpPr>
        <p:spPr>
          <a:xfrm>
            <a:off x="4828032" y="2359152"/>
            <a:ext cx="3794760" cy="365760"/>
          </a:xfrm>
          <a:prstGeom prst="rect">
            <a:avLst/>
          </a:prstGeom>
          <a:noFill/>
          <a:ln/>
        </p:spPr>
        <p:txBody>
          <a:bodyPr wrap="square" lIns="0" tIns="0" rIns="0" bIns="0" rtlCol="0" anchor="t"/>
          <a:lstStyle/>
          <a:p>
            <a:pPr algn="l" indent="0" marL="0">
              <a:buNone/>
            </a:pPr>
            <a:r>
              <a:rPr lang="en-US" sz="960" dirty="0">
                <a:solidFill>
                  <a:srgbClr val="1B2B33"/>
                </a:solidFill>
                <a:latin typeface="Calibri" pitchFamily="34" charset="0"/>
                <a:ea typeface="Calibri" pitchFamily="34" charset="-122"/>
                <a:cs typeface="Calibri" pitchFamily="34" charset="-120"/>
              </a:rPr>
              <a:t>L1 + gradient-aware loss investigation</a:t>
            </a:r>
            <a:endParaRPr lang="en-US" sz="960" dirty="0"/>
          </a:p>
        </p:txBody>
      </p:sp>
      <p:sp>
        <p:nvSpPr>
          <p:cNvPr id="24" name="Text 22"/>
          <p:cNvSpPr txBox="1"/>
          <p:nvPr/>
        </p:nvSpPr>
        <p:spPr>
          <a:xfrm>
            <a:off x="365760" y="2980944"/>
            <a:ext cx="2743200" cy="201168"/>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Output Files</a:t>
            </a:r>
            <a:endParaRPr lang="en-US" sz="1150" dirty="0"/>
          </a:p>
        </p:txBody>
      </p:sp>
      <p:sp>
        <p:nvSpPr>
          <p:cNvPr id="25" name="Shape 23"/>
          <p:cNvSpPr/>
          <p:nvPr/>
        </p:nvSpPr>
        <p:spPr>
          <a:xfrm>
            <a:off x="365760" y="3218688"/>
            <a:ext cx="4114800" cy="566928"/>
          </a:xfrm>
          <a:prstGeom prst="roundRect">
            <a:avLst>
              <a:gd name="adj" fmla="val 9677"/>
            </a:avLst>
          </a:prstGeom>
          <a:solidFill>
            <a:srgbClr val="FFFFFF"/>
          </a:solidFill>
          <a:ln w="12700">
            <a:solidFill>
              <a:srgbClr val="1C7293"/>
            </a:solidFill>
            <a:prstDash val="solid"/>
          </a:ln>
        </p:spPr>
      </p:sp>
      <p:sp>
        <p:nvSpPr>
          <p:cNvPr id="26" name="Text 24"/>
          <p:cNvSpPr txBox="1"/>
          <p:nvPr/>
        </p:nvSpPr>
        <p:spPr>
          <a:xfrm>
            <a:off x="402336" y="3218688"/>
            <a:ext cx="4041648" cy="566928"/>
          </a:xfrm>
          <a:prstGeom prst="rect">
            <a:avLst/>
          </a:prstGeom>
          <a:noFill/>
          <a:ln/>
        </p:spPr>
        <p:txBody>
          <a:bodyPr wrap="square" lIns="0" tIns="0" rIns="0" bIns="0" rtlCol="0" anchor="ctr"/>
          <a:lstStyle/>
          <a:p>
            <a:pPr algn="l" indent="0" marL="0">
              <a:buNone/>
            </a:pPr>
            <a:r>
              <a:rPr lang="en-US" sz="900" dirty="0">
                <a:solidFill>
                  <a:srgbClr val="1B2B33"/>
                </a:solidFill>
                <a:latin typeface="Calibri" pitchFamily="34" charset="0"/>
                <a:ea typeface="Calibri" pitchFamily="34" charset="-122"/>
                <a:cs typeface="Calibri" pitchFamily="34" charset="-120"/>
              </a:rPr>
              <a:t>• Day25_Failure_Analysis.json</a:t>
            </a:r>
            <a:endParaRPr lang="en-US" sz="900" dirty="0"/>
          </a:p>
          <a:p>
            <a:pPr algn="l" indent="0" marL="0">
              <a:buNone/>
            </a:pPr>
            <a:r>
              <a:rPr lang="en-US" sz="900" dirty="0">
                <a:solidFill>
                  <a:srgbClr val="1B2B33"/>
                </a:solidFill>
                <a:latin typeface="Calibri" pitchFamily="34" charset="0"/>
                <a:ea typeface="Calibri" pitchFamily="34" charset="-122"/>
                <a:cs typeface="Calibri" pitchFamily="34" charset="-120"/>
              </a:rPr>
              <a:t>• Day25_Failure_Table.csv</a:t>
            </a:r>
            <a:endParaRPr lang="en-US" sz="900" dirty="0"/>
          </a:p>
          <a:p>
            <a:pPr algn="l" indent="0" marL="0">
              <a:buNone/>
            </a:pPr>
            <a:r>
              <a:rPr lang="en-US" sz="900" dirty="0">
                <a:solidFill>
                  <a:srgbClr val="1B2B33"/>
                </a:solidFill>
                <a:latin typeface="Calibri" pitchFamily="34" charset="0"/>
                <a:ea typeface="Calibri" pitchFamily="34" charset="-122"/>
                <a:cs typeface="Calibri" pitchFamily="34" charset="-120"/>
              </a:rPr>
              <a:t>• Day25_Failure_Cases.png</a:t>
            </a:r>
            <a:endParaRPr lang="en-US" sz="900" dirty="0"/>
          </a:p>
          <a:p>
            <a:pPr algn="l" indent="0" marL="0">
              <a:buNone/>
            </a:pPr>
            <a:r>
              <a:rPr lang="en-US" sz="900" dirty="0">
                <a:solidFill>
                  <a:srgbClr val="1B2B33"/>
                </a:solidFill>
                <a:latin typeface="Calibri" pitchFamily="34" charset="0"/>
                <a:ea typeface="Calibri" pitchFamily="34" charset="-122"/>
                <a:cs typeface="Calibri" pitchFamily="34" charset="-120"/>
              </a:rPr>
              <a:t>• Day25_Report.txt</a:t>
            </a:r>
            <a:endParaRPr lang="en-US" sz="900" dirty="0"/>
          </a:p>
        </p:txBody>
      </p:sp>
      <p:sp>
        <p:nvSpPr>
          <p:cNvPr id="27" name="Text 25"/>
          <p:cNvSpPr txBox="1"/>
          <p:nvPr/>
        </p:nvSpPr>
        <p:spPr>
          <a:xfrm>
            <a:off x="4663440" y="2980944"/>
            <a:ext cx="4114800" cy="201168"/>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Final Project Flow</a:t>
            </a:r>
            <a:endParaRPr lang="en-US" sz="1150" dirty="0"/>
          </a:p>
        </p:txBody>
      </p:sp>
      <p:sp>
        <p:nvSpPr>
          <p:cNvPr id="28" name="Shape 26"/>
          <p:cNvSpPr/>
          <p:nvPr/>
        </p:nvSpPr>
        <p:spPr>
          <a:xfrm>
            <a:off x="4663440" y="3236976"/>
            <a:ext cx="443484" cy="384048"/>
          </a:xfrm>
          <a:prstGeom prst="roundRect">
            <a:avLst>
              <a:gd name="adj" fmla="val 14286"/>
            </a:avLst>
          </a:prstGeom>
          <a:solidFill>
            <a:srgbClr val="E7F1F4"/>
          </a:solidFill>
          <a:ln w="7620">
            <a:solidFill>
              <a:srgbClr val="1C7293"/>
            </a:solidFill>
            <a:prstDash val="solid"/>
          </a:ln>
        </p:spPr>
      </p:sp>
      <p:sp>
        <p:nvSpPr>
          <p:cNvPr id="29" name="Text 27"/>
          <p:cNvSpPr txBox="1"/>
          <p:nvPr/>
        </p:nvSpPr>
        <p:spPr>
          <a:xfrm>
            <a:off x="4700016"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Dataset</a:t>
            </a:r>
            <a:endParaRPr lang="en-US" sz="600" dirty="0"/>
          </a:p>
        </p:txBody>
      </p:sp>
      <p:sp>
        <p:nvSpPr>
          <p:cNvPr id="30" name="Shape 28"/>
          <p:cNvSpPr/>
          <p:nvPr/>
        </p:nvSpPr>
        <p:spPr>
          <a:xfrm>
            <a:off x="5108753" y="3429000"/>
            <a:ext cx="21946" cy="0"/>
          </a:xfrm>
          <a:prstGeom prst="line">
            <a:avLst/>
          </a:prstGeom>
          <a:noFill/>
          <a:ln w="22225">
            <a:solidFill>
              <a:srgbClr val="1C7293"/>
            </a:solidFill>
            <a:prstDash val="solid"/>
            <a:tailEnd type="triangle"/>
          </a:ln>
        </p:spPr>
      </p:sp>
      <p:sp>
        <p:nvSpPr>
          <p:cNvPr id="31" name="Shape 29"/>
          <p:cNvSpPr/>
          <p:nvPr/>
        </p:nvSpPr>
        <p:spPr>
          <a:xfrm>
            <a:off x="5132527" y="3236976"/>
            <a:ext cx="443484" cy="384048"/>
          </a:xfrm>
          <a:prstGeom prst="roundRect">
            <a:avLst>
              <a:gd name="adj" fmla="val 14286"/>
            </a:avLst>
          </a:prstGeom>
          <a:solidFill>
            <a:srgbClr val="E7F1F4"/>
          </a:solidFill>
          <a:ln w="7620">
            <a:solidFill>
              <a:srgbClr val="1C7293"/>
            </a:solidFill>
            <a:prstDash val="solid"/>
          </a:ln>
        </p:spPr>
      </p:sp>
      <p:sp>
        <p:nvSpPr>
          <p:cNvPr id="32" name="Text 30"/>
          <p:cNvSpPr txBox="1"/>
          <p:nvPr/>
        </p:nvSpPr>
        <p:spPr>
          <a:xfrm>
            <a:off x="5169103"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Preproc.</a:t>
            </a:r>
            <a:endParaRPr lang="en-US" sz="600" dirty="0"/>
          </a:p>
        </p:txBody>
      </p:sp>
      <p:sp>
        <p:nvSpPr>
          <p:cNvPr id="33" name="Shape 31"/>
          <p:cNvSpPr/>
          <p:nvPr/>
        </p:nvSpPr>
        <p:spPr>
          <a:xfrm>
            <a:off x="5577840" y="3429000"/>
            <a:ext cx="21946" cy="0"/>
          </a:xfrm>
          <a:prstGeom prst="line">
            <a:avLst/>
          </a:prstGeom>
          <a:noFill/>
          <a:ln w="22225">
            <a:solidFill>
              <a:srgbClr val="1C7293"/>
            </a:solidFill>
            <a:prstDash val="solid"/>
            <a:tailEnd type="triangle"/>
          </a:ln>
        </p:spPr>
      </p:sp>
      <p:sp>
        <p:nvSpPr>
          <p:cNvPr id="34" name="Shape 32"/>
          <p:cNvSpPr/>
          <p:nvPr/>
        </p:nvSpPr>
        <p:spPr>
          <a:xfrm>
            <a:off x="5601614" y="3236976"/>
            <a:ext cx="443484" cy="384048"/>
          </a:xfrm>
          <a:prstGeom prst="roundRect">
            <a:avLst>
              <a:gd name="adj" fmla="val 14286"/>
            </a:avLst>
          </a:prstGeom>
          <a:solidFill>
            <a:srgbClr val="E7F1F4"/>
          </a:solidFill>
          <a:ln w="7620">
            <a:solidFill>
              <a:srgbClr val="1C7293"/>
            </a:solidFill>
            <a:prstDash val="solid"/>
          </a:ln>
        </p:spPr>
      </p:sp>
      <p:sp>
        <p:nvSpPr>
          <p:cNvPr id="35" name="Text 33"/>
          <p:cNvSpPr txBox="1"/>
          <p:nvPr/>
        </p:nvSpPr>
        <p:spPr>
          <a:xfrm>
            <a:off x="5638190"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U-Net</a:t>
            </a:r>
            <a:endParaRPr lang="en-US" sz="600" dirty="0"/>
          </a:p>
        </p:txBody>
      </p:sp>
      <p:sp>
        <p:nvSpPr>
          <p:cNvPr id="36" name="Shape 34"/>
          <p:cNvSpPr/>
          <p:nvPr/>
        </p:nvSpPr>
        <p:spPr>
          <a:xfrm>
            <a:off x="6046927" y="3429000"/>
            <a:ext cx="21946" cy="0"/>
          </a:xfrm>
          <a:prstGeom prst="line">
            <a:avLst/>
          </a:prstGeom>
          <a:noFill/>
          <a:ln w="22225">
            <a:solidFill>
              <a:srgbClr val="1C7293"/>
            </a:solidFill>
            <a:prstDash val="solid"/>
            <a:tailEnd type="triangle"/>
          </a:ln>
        </p:spPr>
      </p:sp>
      <p:sp>
        <p:nvSpPr>
          <p:cNvPr id="37" name="Shape 35"/>
          <p:cNvSpPr/>
          <p:nvPr/>
        </p:nvSpPr>
        <p:spPr>
          <a:xfrm>
            <a:off x="6070702" y="3236976"/>
            <a:ext cx="443484" cy="384048"/>
          </a:xfrm>
          <a:prstGeom prst="roundRect">
            <a:avLst>
              <a:gd name="adj" fmla="val 14286"/>
            </a:avLst>
          </a:prstGeom>
          <a:solidFill>
            <a:srgbClr val="E7F1F4"/>
          </a:solidFill>
          <a:ln w="7620">
            <a:solidFill>
              <a:srgbClr val="1C7293"/>
            </a:solidFill>
            <a:prstDash val="solid"/>
          </a:ln>
        </p:spPr>
      </p:sp>
      <p:sp>
        <p:nvSpPr>
          <p:cNvPr id="38" name="Text 36"/>
          <p:cNvSpPr txBox="1"/>
          <p:nvPr/>
        </p:nvSpPr>
        <p:spPr>
          <a:xfrm>
            <a:off x="6107278"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Training</a:t>
            </a:r>
            <a:endParaRPr lang="en-US" sz="600" dirty="0"/>
          </a:p>
        </p:txBody>
      </p:sp>
      <p:sp>
        <p:nvSpPr>
          <p:cNvPr id="39" name="Shape 37"/>
          <p:cNvSpPr/>
          <p:nvPr/>
        </p:nvSpPr>
        <p:spPr>
          <a:xfrm>
            <a:off x="6516014" y="3429000"/>
            <a:ext cx="21946" cy="0"/>
          </a:xfrm>
          <a:prstGeom prst="line">
            <a:avLst/>
          </a:prstGeom>
          <a:noFill/>
          <a:ln w="22225">
            <a:solidFill>
              <a:srgbClr val="1C7293"/>
            </a:solidFill>
            <a:prstDash val="solid"/>
            <a:tailEnd type="triangle"/>
          </a:ln>
        </p:spPr>
      </p:sp>
      <p:sp>
        <p:nvSpPr>
          <p:cNvPr id="40" name="Shape 38"/>
          <p:cNvSpPr/>
          <p:nvPr/>
        </p:nvSpPr>
        <p:spPr>
          <a:xfrm>
            <a:off x="6539789" y="3236976"/>
            <a:ext cx="443484" cy="384048"/>
          </a:xfrm>
          <a:prstGeom prst="roundRect">
            <a:avLst>
              <a:gd name="adj" fmla="val 14286"/>
            </a:avLst>
          </a:prstGeom>
          <a:solidFill>
            <a:srgbClr val="E7F1F4"/>
          </a:solidFill>
          <a:ln w="7620">
            <a:solidFill>
              <a:srgbClr val="1C7293"/>
            </a:solidFill>
            <a:prstDash val="solid"/>
          </a:ln>
        </p:spPr>
      </p:sp>
      <p:sp>
        <p:nvSpPr>
          <p:cNvPr id="41" name="Text 39"/>
          <p:cNvSpPr txBox="1"/>
          <p:nvPr/>
        </p:nvSpPr>
        <p:spPr>
          <a:xfrm>
            <a:off x="6576365"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Validation</a:t>
            </a:r>
            <a:endParaRPr lang="en-US" sz="600" dirty="0"/>
          </a:p>
        </p:txBody>
      </p:sp>
      <p:sp>
        <p:nvSpPr>
          <p:cNvPr id="42" name="Shape 40"/>
          <p:cNvSpPr/>
          <p:nvPr/>
        </p:nvSpPr>
        <p:spPr>
          <a:xfrm>
            <a:off x="6985102" y="3429000"/>
            <a:ext cx="21946" cy="0"/>
          </a:xfrm>
          <a:prstGeom prst="line">
            <a:avLst/>
          </a:prstGeom>
          <a:noFill/>
          <a:ln w="22225">
            <a:solidFill>
              <a:srgbClr val="1C7293"/>
            </a:solidFill>
            <a:prstDash val="solid"/>
            <a:tailEnd type="triangle"/>
          </a:ln>
        </p:spPr>
      </p:sp>
      <p:sp>
        <p:nvSpPr>
          <p:cNvPr id="43" name="Shape 41"/>
          <p:cNvSpPr/>
          <p:nvPr/>
        </p:nvSpPr>
        <p:spPr>
          <a:xfrm>
            <a:off x="7008876" y="3236976"/>
            <a:ext cx="443484" cy="384048"/>
          </a:xfrm>
          <a:prstGeom prst="roundRect">
            <a:avLst>
              <a:gd name="adj" fmla="val 14286"/>
            </a:avLst>
          </a:prstGeom>
          <a:solidFill>
            <a:srgbClr val="DCEBF1"/>
          </a:solidFill>
          <a:ln w="15240">
            <a:solidFill>
              <a:srgbClr val="065A82"/>
            </a:solidFill>
            <a:prstDash val="solid"/>
          </a:ln>
        </p:spPr>
      </p:sp>
      <p:sp>
        <p:nvSpPr>
          <p:cNvPr id="44" name="Text 42"/>
          <p:cNvSpPr txBox="1"/>
          <p:nvPr/>
        </p:nvSpPr>
        <p:spPr>
          <a:xfrm>
            <a:off x="7045452"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Frozen</a:t>
            </a:r>
            <a:endParaRPr lang="en-US" sz="600" dirty="0"/>
          </a:p>
          <a:p>
            <a:pPr algn="ctr" indent="0" marL="0">
              <a:buNone/>
            </a:pPr>
            <a:r>
              <a:rPr lang="en-US" sz="600" b="1" dirty="0">
                <a:solidFill>
                  <a:srgbClr val="21295C"/>
                </a:solidFill>
                <a:latin typeface="Calibri" pitchFamily="34" charset="0"/>
                <a:ea typeface="Calibri" pitchFamily="34" charset="-122"/>
                <a:cs typeface="Calibri" pitchFamily="34" charset="-120"/>
              </a:rPr>
              <a:t>Model</a:t>
            </a:r>
            <a:endParaRPr lang="en-US" sz="600" dirty="0"/>
          </a:p>
        </p:txBody>
      </p:sp>
      <p:sp>
        <p:nvSpPr>
          <p:cNvPr id="45" name="Shape 43"/>
          <p:cNvSpPr/>
          <p:nvPr/>
        </p:nvSpPr>
        <p:spPr>
          <a:xfrm>
            <a:off x="7454189" y="3429000"/>
            <a:ext cx="21946" cy="0"/>
          </a:xfrm>
          <a:prstGeom prst="line">
            <a:avLst/>
          </a:prstGeom>
          <a:noFill/>
          <a:ln w="22225">
            <a:solidFill>
              <a:srgbClr val="1C7293"/>
            </a:solidFill>
            <a:prstDash val="solid"/>
            <a:tailEnd type="triangle"/>
          </a:ln>
        </p:spPr>
      </p:sp>
      <p:sp>
        <p:nvSpPr>
          <p:cNvPr id="46" name="Shape 44"/>
          <p:cNvSpPr/>
          <p:nvPr/>
        </p:nvSpPr>
        <p:spPr>
          <a:xfrm>
            <a:off x="7477963" y="3236976"/>
            <a:ext cx="443484" cy="384048"/>
          </a:xfrm>
          <a:prstGeom prst="roundRect">
            <a:avLst>
              <a:gd name="adj" fmla="val 14286"/>
            </a:avLst>
          </a:prstGeom>
          <a:solidFill>
            <a:srgbClr val="E7F1F4"/>
          </a:solidFill>
          <a:ln w="7620">
            <a:solidFill>
              <a:srgbClr val="1C7293"/>
            </a:solidFill>
            <a:prstDash val="solid"/>
          </a:ln>
        </p:spPr>
      </p:sp>
      <p:sp>
        <p:nvSpPr>
          <p:cNvPr id="47" name="Text 45"/>
          <p:cNvSpPr txBox="1"/>
          <p:nvPr/>
        </p:nvSpPr>
        <p:spPr>
          <a:xfrm>
            <a:off x="7514539"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Test</a:t>
            </a:r>
            <a:endParaRPr lang="en-US" sz="600" dirty="0"/>
          </a:p>
          <a:p>
            <a:pPr algn="ctr" indent="0" marL="0">
              <a:buNone/>
            </a:pPr>
            <a:r>
              <a:rPr lang="en-US" sz="600" b="1" dirty="0">
                <a:solidFill>
                  <a:srgbClr val="21295C"/>
                </a:solidFill>
                <a:latin typeface="Calibri" pitchFamily="34" charset="0"/>
                <a:ea typeface="Calibri" pitchFamily="34" charset="-122"/>
                <a:cs typeface="Calibri" pitchFamily="34" charset="-120"/>
              </a:rPr>
              <a:t>Eval.</a:t>
            </a:r>
            <a:endParaRPr lang="en-US" sz="600" dirty="0"/>
          </a:p>
        </p:txBody>
      </p:sp>
      <p:sp>
        <p:nvSpPr>
          <p:cNvPr id="48" name="Shape 46"/>
          <p:cNvSpPr/>
          <p:nvPr/>
        </p:nvSpPr>
        <p:spPr>
          <a:xfrm>
            <a:off x="7923276" y="3429000"/>
            <a:ext cx="21946" cy="0"/>
          </a:xfrm>
          <a:prstGeom prst="line">
            <a:avLst/>
          </a:prstGeom>
          <a:noFill/>
          <a:ln w="22225">
            <a:solidFill>
              <a:srgbClr val="1C7293"/>
            </a:solidFill>
            <a:prstDash val="solid"/>
            <a:tailEnd type="triangle"/>
          </a:ln>
        </p:spPr>
      </p:sp>
      <p:sp>
        <p:nvSpPr>
          <p:cNvPr id="49" name="Shape 47"/>
          <p:cNvSpPr/>
          <p:nvPr/>
        </p:nvSpPr>
        <p:spPr>
          <a:xfrm>
            <a:off x="7947050" y="3236976"/>
            <a:ext cx="443484" cy="384048"/>
          </a:xfrm>
          <a:prstGeom prst="roundRect">
            <a:avLst>
              <a:gd name="adj" fmla="val 14286"/>
            </a:avLst>
          </a:prstGeom>
          <a:solidFill>
            <a:srgbClr val="E7F1F4"/>
          </a:solidFill>
          <a:ln w="7620">
            <a:solidFill>
              <a:srgbClr val="1C7293"/>
            </a:solidFill>
            <a:prstDash val="solid"/>
          </a:ln>
        </p:spPr>
      </p:sp>
      <p:sp>
        <p:nvSpPr>
          <p:cNvPr id="50" name="Text 48"/>
          <p:cNvSpPr txBox="1"/>
          <p:nvPr/>
        </p:nvSpPr>
        <p:spPr>
          <a:xfrm>
            <a:off x="7983626"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Failure</a:t>
            </a:r>
            <a:endParaRPr lang="en-US" sz="600" dirty="0"/>
          </a:p>
          <a:p>
            <a:pPr algn="ctr" indent="0" marL="0">
              <a:buNone/>
            </a:pPr>
            <a:r>
              <a:rPr lang="en-US" sz="600" b="1" dirty="0">
                <a:solidFill>
                  <a:srgbClr val="21295C"/>
                </a:solidFill>
                <a:latin typeface="Calibri" pitchFamily="34" charset="0"/>
                <a:ea typeface="Calibri" pitchFamily="34" charset="-122"/>
                <a:cs typeface="Calibri" pitchFamily="34" charset="-120"/>
              </a:rPr>
              <a:t>Analysis</a:t>
            </a:r>
            <a:endParaRPr lang="en-US" sz="600" dirty="0"/>
          </a:p>
        </p:txBody>
      </p:sp>
      <p:sp>
        <p:nvSpPr>
          <p:cNvPr id="51" name="Shape 49"/>
          <p:cNvSpPr/>
          <p:nvPr/>
        </p:nvSpPr>
        <p:spPr>
          <a:xfrm>
            <a:off x="8392363" y="3429000"/>
            <a:ext cx="21946" cy="0"/>
          </a:xfrm>
          <a:prstGeom prst="line">
            <a:avLst/>
          </a:prstGeom>
          <a:noFill/>
          <a:ln w="22225">
            <a:solidFill>
              <a:srgbClr val="1C7293"/>
            </a:solidFill>
            <a:prstDash val="solid"/>
            <a:tailEnd type="triangle"/>
          </a:ln>
        </p:spPr>
      </p:sp>
      <p:sp>
        <p:nvSpPr>
          <p:cNvPr id="52" name="Shape 50"/>
          <p:cNvSpPr/>
          <p:nvPr/>
        </p:nvSpPr>
        <p:spPr>
          <a:xfrm>
            <a:off x="8416138" y="3236976"/>
            <a:ext cx="443484" cy="384048"/>
          </a:xfrm>
          <a:prstGeom prst="roundRect">
            <a:avLst>
              <a:gd name="adj" fmla="val 14286"/>
            </a:avLst>
          </a:prstGeom>
          <a:solidFill>
            <a:srgbClr val="E7F1F4"/>
          </a:solidFill>
          <a:ln w="7620">
            <a:solidFill>
              <a:srgbClr val="1C7293"/>
            </a:solidFill>
            <a:prstDash val="solid"/>
          </a:ln>
        </p:spPr>
      </p:sp>
      <p:sp>
        <p:nvSpPr>
          <p:cNvPr id="53" name="Text 51"/>
          <p:cNvSpPr txBox="1"/>
          <p:nvPr/>
        </p:nvSpPr>
        <p:spPr>
          <a:xfrm>
            <a:off x="8452714" y="3236976"/>
            <a:ext cx="370332" cy="384048"/>
          </a:xfrm>
          <a:prstGeom prst="rect">
            <a:avLst/>
          </a:prstGeom>
          <a:noFill/>
          <a:ln/>
        </p:spPr>
        <p:txBody>
          <a:bodyPr wrap="square" lIns="0" tIns="0" rIns="0" bIns="0" rtlCol="0" anchor="ctr"/>
          <a:lstStyle/>
          <a:p>
            <a:pPr algn="ctr" indent="0" marL="0">
              <a:buNone/>
            </a:pPr>
            <a:r>
              <a:rPr lang="en-US" sz="600" b="1" dirty="0">
                <a:solidFill>
                  <a:srgbClr val="21295C"/>
                </a:solidFill>
                <a:latin typeface="Calibri" pitchFamily="34" charset="0"/>
                <a:ea typeface="Calibri" pitchFamily="34" charset="-122"/>
                <a:cs typeface="Calibri" pitchFamily="34" charset="-120"/>
              </a:rPr>
              <a:t>Targeted</a:t>
            </a:r>
            <a:endParaRPr lang="en-US" sz="600" dirty="0"/>
          </a:p>
          <a:p>
            <a:pPr algn="ctr" indent="0" marL="0">
              <a:buNone/>
            </a:pPr>
            <a:r>
              <a:rPr lang="en-US" sz="600" b="1" dirty="0">
                <a:solidFill>
                  <a:srgbClr val="21295C"/>
                </a:solidFill>
                <a:latin typeface="Calibri" pitchFamily="34" charset="0"/>
                <a:ea typeface="Calibri" pitchFamily="34" charset="-122"/>
                <a:cs typeface="Calibri" pitchFamily="34" charset="-120"/>
              </a:rPr>
              <a:t>Improv.</a:t>
            </a:r>
            <a:endParaRPr lang="en-US" sz="600" dirty="0"/>
          </a:p>
        </p:txBody>
      </p:sp>
      <p:sp>
        <p:nvSpPr>
          <p:cNvPr id="54" name="Shape 52"/>
          <p:cNvSpPr/>
          <p:nvPr/>
        </p:nvSpPr>
        <p:spPr>
          <a:xfrm>
            <a:off x="365760" y="3895344"/>
            <a:ext cx="8412480" cy="457200"/>
          </a:xfrm>
          <a:prstGeom prst="roundRect">
            <a:avLst>
              <a:gd name="adj" fmla="val 12000"/>
            </a:avLst>
          </a:prstGeom>
          <a:solidFill>
            <a:srgbClr val="F2F8FA"/>
          </a:solidFill>
          <a:ln w="12700">
            <a:solidFill>
              <a:srgbClr val="B9D3DC"/>
            </a:solidFill>
            <a:prstDash val="solid"/>
          </a:ln>
        </p:spPr>
      </p:sp>
      <p:sp>
        <p:nvSpPr>
          <p:cNvPr id="55" name="Text 53"/>
          <p:cNvSpPr txBox="1"/>
          <p:nvPr/>
        </p:nvSpPr>
        <p:spPr>
          <a:xfrm>
            <a:off x="402336" y="3895344"/>
            <a:ext cx="8339328" cy="457200"/>
          </a:xfrm>
          <a:prstGeom prst="rect">
            <a:avLst/>
          </a:prstGeom>
          <a:noFill/>
          <a:ln/>
        </p:spPr>
        <p:txBody>
          <a:bodyPr wrap="square" lIns="0" tIns="0" rIns="0" bIns="0" rtlCol="0" anchor="ctr"/>
          <a:lstStyle/>
          <a:p>
            <a:pPr algn="l" indent="0" marL="0">
              <a:buNone/>
            </a:pPr>
            <a:r>
              <a:rPr lang="en-US" sz="1000" i="1" dirty="0">
                <a:solidFill>
                  <a:srgbClr val="1B2B33"/>
                </a:solidFill>
                <a:latin typeface="Calibri" pitchFamily="34" charset="0"/>
                <a:ea typeface="Calibri" pitchFamily="34" charset="-122"/>
                <a:cs typeface="Calibri" pitchFamily="34" charset="-120"/>
              </a:rPr>
              <a:t>Day 25 completed the transition from simply evaluating the model to understanding where and why the model produces larger errors.</a:t>
            </a:r>
            <a:endParaRPr lang="en-US" sz="1000" dirty="0"/>
          </a:p>
        </p:txBody>
      </p:sp>
      <p:sp>
        <p:nvSpPr>
          <p:cNvPr id="56" name="Shape 54"/>
          <p:cNvSpPr/>
          <p:nvPr/>
        </p:nvSpPr>
        <p:spPr>
          <a:xfrm>
            <a:off x="365760" y="4407408"/>
            <a:ext cx="8412480" cy="457200"/>
          </a:xfrm>
          <a:prstGeom prst="roundRect">
            <a:avLst>
              <a:gd name="adj" fmla="val 12000"/>
            </a:avLst>
          </a:prstGeom>
          <a:solidFill>
            <a:srgbClr val="DCEBF1"/>
          </a:solidFill>
          <a:ln w="16510">
            <a:solidFill>
              <a:srgbClr val="065A82"/>
            </a:solidFill>
            <a:prstDash val="solid"/>
          </a:ln>
        </p:spPr>
      </p:sp>
      <p:sp>
        <p:nvSpPr>
          <p:cNvPr id="57" name="Text 55"/>
          <p:cNvSpPr txBox="1"/>
          <p:nvPr/>
        </p:nvSpPr>
        <p:spPr>
          <a:xfrm>
            <a:off x="402336" y="4407408"/>
            <a:ext cx="8339328" cy="457200"/>
          </a:xfrm>
          <a:prstGeom prst="rect">
            <a:avLst/>
          </a:prstGeom>
          <a:noFill/>
          <a:ln/>
        </p:spPr>
        <p:txBody>
          <a:bodyPr wrap="square" lIns="0" tIns="0" rIns="0" bIns="0" rtlCol="0" anchor="ctr"/>
          <a:lstStyle/>
          <a:p>
            <a:pPr algn="ctr" indent="0" marL="0">
              <a:buNone/>
            </a:pPr>
            <a:r>
              <a:rPr lang="en-US" sz="1000" b="1" dirty="0">
                <a:solidFill>
                  <a:srgbClr val="21295C"/>
                </a:solidFill>
                <a:latin typeface="Calibri" pitchFamily="34" charset="0"/>
                <a:ea typeface="Calibri" pitchFamily="34" charset="-122"/>
                <a:cs typeface="Calibri" pitchFamily="34" charset="-120"/>
              </a:rPr>
              <a:t>Final frozen model remains unchanged; Day 25 findings are used to understand model limitations and guide future improvement.</a:t>
            </a:r>
            <a:endParaRPr lang="en-US" sz="1000" dirty="0"/>
          </a:p>
        </p:txBody>
      </p:sp>
      <p:sp>
        <p:nvSpPr>
          <p:cNvPr id="58" name="Text 56"/>
          <p:cNvSpPr txBox="1"/>
          <p:nvPr/>
        </p:nvSpPr>
        <p:spPr>
          <a:xfrm>
            <a:off x="365760" y="4901184"/>
            <a:ext cx="5943600" cy="201168"/>
          </a:xfrm>
          <a:prstGeom prst="rect">
            <a:avLst/>
          </a:prstGeom>
          <a:noFill/>
          <a:ln/>
        </p:spPr>
        <p:txBody>
          <a:bodyPr wrap="square" lIns="0" tIns="0" rIns="0" bIns="0" rtlCol="0" anchor="ctr"/>
          <a:lstStyle/>
          <a:p>
            <a:pPr algn="l" indent="0" marL="0">
              <a:buNone/>
            </a:pPr>
            <a:r>
              <a:rPr lang="en-US" sz="800" dirty="0">
                <a:solidFill>
                  <a:srgbClr val="5A6B72"/>
                </a:solidFill>
                <a:latin typeface="Calibri" pitchFamily="34" charset="0"/>
                <a:ea typeface="Calibri" pitchFamily="34" charset="-122"/>
                <a:cs typeface="Calibri" pitchFamily="34" charset="-120"/>
              </a:rPr>
              <a:t>UNDERWATER IMAGE ENHANCEMENT  •  U-NET  •  DAY 17–25</a:t>
            </a:r>
            <a:endParaRPr lang="en-US" sz="800" dirty="0"/>
          </a:p>
        </p:txBody>
      </p:sp>
      <p:sp>
        <p:nvSpPr>
          <p:cNvPr id="59" name="Text 57"/>
          <p:cNvSpPr txBox="1"/>
          <p:nvPr/>
        </p:nvSpPr>
        <p:spPr>
          <a:xfrm>
            <a:off x="8412480" y="4864608"/>
            <a:ext cx="365760" cy="256032"/>
          </a:xfrm>
          <a:prstGeom prst="rect">
            <a:avLst/>
          </a:prstGeom>
          <a:noFill/>
          <a:ln/>
        </p:spPr>
        <p:txBody>
          <a:bodyPr wrap="square" lIns="0" tIns="0" rIns="0" bIns="0" rtlCol="0" anchor="ctr"/>
          <a:lstStyle/>
          <a:p>
            <a:pPr algn="r" indent="0" marL="0">
              <a:buNone/>
            </a:pPr>
            <a:r>
              <a:rPr lang="en-US" sz="1000" b="1" dirty="0">
                <a:solidFill>
                  <a:srgbClr val="065A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2026-09-26T09:30:25Z</dcterms:created>
  <dcterms:modified xsi:type="dcterms:W3CDTF">2026-09-26T09:30:25Z</dcterms:modified>
</cp:coreProperties>
</file>